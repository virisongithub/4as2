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321" r:id="rId3"/>
    <p:sldId id="542" r:id="rId4"/>
    <p:sldId id="547" r:id="rId5"/>
    <p:sldId id="436" r:id="rId6"/>
    <p:sldId id="546" r:id="rId7"/>
    <p:sldId id="543" r:id="rId8"/>
    <p:sldId id="545" r:id="rId9"/>
    <p:sldId id="467" r:id="rId10"/>
    <p:sldId id="552" r:id="rId11"/>
    <p:sldId id="472" r:id="rId12"/>
    <p:sldId id="471" r:id="rId13"/>
    <p:sldId id="55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B8BE"/>
    <a:srgbClr val="B1B9C3"/>
    <a:srgbClr val="B1BAC1"/>
    <a:srgbClr val="0A141A"/>
    <a:srgbClr val="659BE1"/>
    <a:srgbClr val="D4EBF3"/>
    <a:srgbClr val="90B9F9"/>
    <a:srgbClr val="E9EA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6126" autoAdjust="0"/>
  </p:normalViewPr>
  <p:slideViewPr>
    <p:cSldViewPr snapToGrid="0" snapToObjects="1">
      <p:cViewPr varScale="1">
        <p:scale>
          <a:sx n="91" d="100"/>
          <a:sy n="91" d="100"/>
        </p:scale>
        <p:origin x="12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A72D7-118C-4093-87F3-6DCC4751C4A9}" type="datetimeFigureOut">
              <a:rPr lang="fr-FR" smtClean="0"/>
              <a:t>04/05/2026</a:t>
            </a:fld>
            <a:endParaRPr lang="fr-F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34692-B35E-444B-A34D-03382DEE6565}" type="slidenum">
              <a:rPr lang="fr-FR" smtClean="0"/>
              <a:t>‹#›</a:t>
            </a:fld>
            <a:endParaRPr lang="fr-FR"/>
          </a:p>
        </p:txBody>
      </p:sp>
    </p:spTree>
    <p:extLst>
      <p:ext uri="{BB962C8B-B14F-4D97-AF65-F5344CB8AC3E}">
        <p14:creationId xmlns:p14="http://schemas.microsoft.com/office/powerpoint/2010/main" val="112885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sebastien.guerard@bbox.f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1114" y="0"/>
            <a:ext cx="7772400" cy="1470025"/>
          </a:xfrm>
        </p:spPr>
        <p:txBody>
          <a:bodyPr/>
          <a:lstStyle/>
          <a:p>
            <a:r>
              <a:rPr lang="fr-FR" b="1" dirty="0"/>
              <a:t>Lean Management</a:t>
            </a:r>
            <a:endParaRPr b="1" dirty="0"/>
          </a:p>
        </p:txBody>
      </p:sp>
      <p:sp>
        <p:nvSpPr>
          <p:cNvPr id="3" name="Subtitle 2"/>
          <p:cNvSpPr>
            <a:spLocks noGrp="1"/>
          </p:cNvSpPr>
          <p:nvPr>
            <p:ph type="subTitle" idx="1"/>
          </p:nvPr>
        </p:nvSpPr>
        <p:spPr>
          <a:xfrm>
            <a:off x="149363" y="5563617"/>
            <a:ext cx="8640000" cy="716975"/>
          </a:xfrm>
        </p:spPr>
        <p:txBody>
          <a:bodyPr>
            <a:normAutofit lnSpcReduction="10000"/>
          </a:bodyPr>
          <a:lstStyle/>
          <a:p>
            <a:pPr algn="r"/>
            <a:r>
              <a:rPr sz="2000" dirty="0"/>
              <a:t>Sébastien GUERARD – Directeur de </a:t>
            </a:r>
            <a:r>
              <a:rPr sz="2000" dirty="0" err="1"/>
              <a:t>programme</a:t>
            </a:r>
            <a:endParaRPr lang="fr-FR" sz="2000" dirty="0"/>
          </a:p>
          <a:p>
            <a:pPr algn="r"/>
            <a:r>
              <a:rPr lang="fr-FR" sz="2000" dirty="0">
                <a:hlinkClick r:id="rId2"/>
              </a:rPr>
              <a:t>sebastien.guerard@bbox.fr</a:t>
            </a:r>
            <a:r>
              <a:rPr lang="fr-FR" sz="2000" dirty="0"/>
              <a:t> / 06-61-94-41-84</a:t>
            </a:r>
            <a:endParaRPr sz="2000" dirty="0"/>
          </a:p>
        </p:txBody>
      </p:sp>
      <p:sp>
        <p:nvSpPr>
          <p:cNvPr id="4" name="Rectangle 3"/>
          <p:cNvSpPr/>
          <p:nvPr/>
        </p:nvSpPr>
        <p:spPr>
          <a:xfrm>
            <a:off x="252000" y="6280592"/>
            <a:ext cx="8640000" cy="360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533BC487-2220-A841-467C-7E66B6D1DED7}"/>
              </a:ext>
            </a:extLst>
          </p:cNvPr>
          <p:cNvPicPr>
            <a:picLocks noChangeAspect="1"/>
          </p:cNvPicPr>
          <p:nvPr/>
        </p:nvPicPr>
        <p:blipFill>
          <a:blip r:embed="rId3"/>
          <a:stretch>
            <a:fillRect/>
          </a:stretch>
        </p:blipFill>
        <p:spPr>
          <a:xfrm>
            <a:off x="2120792" y="1245059"/>
            <a:ext cx="4902416" cy="42101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EB244-6AA6-4390-A9AA-247A19692BD4}"/>
              </a:ext>
            </a:extLst>
          </p:cNvPr>
          <p:cNvSpPr>
            <a:spLocks noGrp="1"/>
          </p:cNvSpPr>
          <p:nvPr>
            <p:ph type="title"/>
          </p:nvPr>
        </p:nvSpPr>
        <p:spPr/>
        <p:txBody>
          <a:bodyPr/>
          <a:lstStyle/>
          <a:p>
            <a:r>
              <a:rPr lang="fr-FR" b="1" dirty="0"/>
              <a:t>Programme du cours</a:t>
            </a:r>
          </a:p>
        </p:txBody>
      </p:sp>
      <p:graphicFrame>
        <p:nvGraphicFramePr>
          <p:cNvPr id="4" name="Content Placeholder 3">
            <a:extLst>
              <a:ext uri="{FF2B5EF4-FFF2-40B4-BE49-F238E27FC236}">
                <a16:creationId xmlns:a16="http://schemas.microsoft.com/office/drawing/2014/main" id="{77D9FB8C-2DD1-469D-BB49-799979391494}"/>
              </a:ext>
            </a:extLst>
          </p:cNvPr>
          <p:cNvGraphicFramePr>
            <a:graphicFrameLocks noGrp="1"/>
          </p:cNvGraphicFramePr>
          <p:nvPr>
            <p:ph idx="1"/>
            <p:custDataLst>
              <p:tags r:id="rId1"/>
            </p:custDataLst>
            <p:extLst>
              <p:ext uri="{D42A27DB-BD31-4B8C-83A1-F6EECF244321}">
                <p14:modId xmlns:p14="http://schemas.microsoft.com/office/powerpoint/2010/main" val="1278836869"/>
              </p:ext>
            </p:extLst>
          </p:nvPr>
        </p:nvGraphicFramePr>
        <p:xfrm>
          <a:off x="457200" y="1627981"/>
          <a:ext cx="8229601" cy="4504305"/>
        </p:xfrm>
        <a:graphic>
          <a:graphicData uri="http://schemas.openxmlformats.org/drawingml/2006/table">
            <a:tbl>
              <a:tblPr>
                <a:tableStyleId>{3C2FFA5D-87B4-456A-9821-1D502468CF0F}</a:tableStyleId>
              </a:tblPr>
              <a:tblGrid>
                <a:gridCol w="338550">
                  <a:extLst>
                    <a:ext uri="{9D8B030D-6E8A-4147-A177-3AD203B41FA5}">
                      <a16:colId xmlns:a16="http://schemas.microsoft.com/office/drawing/2014/main" val="2165258068"/>
                    </a:ext>
                  </a:extLst>
                </a:gridCol>
                <a:gridCol w="2564521">
                  <a:extLst>
                    <a:ext uri="{9D8B030D-6E8A-4147-A177-3AD203B41FA5}">
                      <a16:colId xmlns:a16="http://schemas.microsoft.com/office/drawing/2014/main" val="192823676"/>
                    </a:ext>
                  </a:extLst>
                </a:gridCol>
                <a:gridCol w="2663265">
                  <a:extLst>
                    <a:ext uri="{9D8B030D-6E8A-4147-A177-3AD203B41FA5}">
                      <a16:colId xmlns:a16="http://schemas.microsoft.com/office/drawing/2014/main" val="2044168593"/>
                    </a:ext>
                  </a:extLst>
                </a:gridCol>
                <a:gridCol w="2663265">
                  <a:extLst>
                    <a:ext uri="{9D8B030D-6E8A-4147-A177-3AD203B41FA5}">
                      <a16:colId xmlns:a16="http://schemas.microsoft.com/office/drawing/2014/main" val="2088208199"/>
                    </a:ext>
                  </a:extLst>
                </a:gridCol>
              </a:tblGrid>
              <a:tr h="406400">
                <a:tc>
                  <a:txBody>
                    <a:bodyPr/>
                    <a:lstStyle/>
                    <a:p>
                      <a:pPr algn="ctr" fontAlgn="ctr"/>
                      <a:r>
                        <a:rPr lang="en-US" sz="1000" u="none" strike="noStrike" dirty="0">
                          <a:effectLst/>
                        </a:rPr>
                        <a:t>#</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ctr" fontAlgn="ctr"/>
                      <a:r>
                        <a:rPr lang="en-US" sz="1000" u="none" strike="noStrike" dirty="0" err="1">
                          <a:effectLst/>
                        </a:rPr>
                        <a:t>Thème</a:t>
                      </a:r>
                      <a:r>
                        <a:rPr lang="en-US" sz="1000" u="none" strike="noStrike" dirty="0">
                          <a:effectLst/>
                        </a:rPr>
                        <a:t> principal</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ctr" fontAlgn="ctr"/>
                      <a:r>
                        <a:rPr lang="en-US" sz="1000" u="none" strike="noStrike">
                          <a:effectLst/>
                        </a:rPr>
                        <a:t>Objectif pédagogique</a:t>
                      </a:r>
                      <a:endParaRPr lang="en-US" sz="1000" b="1" i="0" u="none" strike="noStrike">
                        <a:solidFill>
                          <a:srgbClr val="000000"/>
                        </a:solidFill>
                        <a:effectLst/>
                        <a:latin typeface="Calibri" panose="020F0502020204030204" pitchFamily="34" charset="0"/>
                      </a:endParaRPr>
                    </a:p>
                  </a:txBody>
                  <a:tcPr marL="8467" marR="8467" marT="8467" marB="0" anchor="ctr"/>
                </a:tc>
                <a:tc>
                  <a:txBody>
                    <a:bodyPr/>
                    <a:lstStyle/>
                    <a:p>
                      <a:pPr algn="ctr" fontAlgn="ctr"/>
                      <a:r>
                        <a:rPr lang="en-US" sz="1000" u="none" strike="noStrike" dirty="0">
                          <a:effectLst/>
                        </a:rPr>
                        <a:t>TD / TP (45 min)</a:t>
                      </a:r>
                      <a:endParaRPr lang="en-US"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1133929163"/>
                  </a:ext>
                </a:extLst>
              </a:tr>
              <a:tr h="508000">
                <a:tc>
                  <a:txBody>
                    <a:bodyPr/>
                    <a:lstStyle/>
                    <a:p>
                      <a:pPr algn="ctr" fontAlgn="ctr"/>
                      <a:r>
                        <a:rPr lang="en-US" sz="1000" u="none" strike="noStrike" dirty="0">
                          <a:effectLst/>
                        </a:rPr>
                        <a:t>M1</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en-US" sz="1000" u="none" strike="noStrike" dirty="0">
                          <a:effectLst/>
                        </a:rPr>
                        <a:t>Introduction au Lean &amp; </a:t>
                      </a:r>
                      <a:r>
                        <a:rPr lang="en-US" sz="1000" u="none" strike="noStrike" dirty="0" err="1">
                          <a:effectLst/>
                        </a:rPr>
                        <a:t>Fondamentaux</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Comprendre la vision Lean, ce qu’est la Valeur, et pourquoi le Lean structure tout le reste du cours.</a:t>
                      </a:r>
                      <a:endParaRPr lang="fr-FR" sz="1000" b="0"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TD1 : Identification des gaspillages – Analyse d’un cas simple (vidéo / scénario) où les étudiants doivent repérer les 7 Muda.</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3115807997"/>
                  </a:ext>
                </a:extLst>
              </a:tr>
              <a:tr h="508000">
                <a:tc>
                  <a:txBody>
                    <a:bodyPr/>
                    <a:lstStyle/>
                    <a:p>
                      <a:pPr algn="ctr" fontAlgn="ctr"/>
                      <a:r>
                        <a:rPr lang="en-US" sz="1000" u="none" strike="noStrike" dirty="0">
                          <a:effectLst/>
                        </a:rPr>
                        <a:t>M2</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Le Flux &amp; la Chaîne de Valeur</a:t>
                      </a:r>
                      <a:endParaRPr lang="fr-FR"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Analyser un processus et identifier les zones de non-valeur ajoutée. Comprendre la notion de “flow”.</a:t>
                      </a:r>
                      <a:endParaRPr lang="fr-FR" sz="1000" b="0"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TD2 : Analyse d’un mini-processus –découpage d’un processus et identification des VA / NVA / goulots.</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2291657548"/>
                  </a:ext>
                </a:extLst>
              </a:tr>
              <a:tr h="541905">
                <a:tc>
                  <a:txBody>
                    <a:bodyPr/>
                    <a:lstStyle/>
                    <a:p>
                      <a:pPr algn="ctr" fontAlgn="ctr"/>
                      <a:r>
                        <a:rPr lang="en-US" sz="1000" u="none" strike="noStrike" dirty="0">
                          <a:effectLst/>
                        </a:rPr>
                        <a:t>M3</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en-US" sz="1000" u="none" strike="noStrike" dirty="0">
                          <a:effectLst/>
                        </a:rPr>
                        <a:t>VSM – Value Stream Mapping (</a:t>
                      </a:r>
                      <a:r>
                        <a:rPr lang="en-US" sz="1000" u="none" strike="noStrike" dirty="0" err="1">
                          <a:effectLst/>
                        </a:rPr>
                        <a:t>Niveau</a:t>
                      </a:r>
                      <a:r>
                        <a:rPr lang="en-US" sz="1000" u="none" strike="noStrike" dirty="0">
                          <a:effectLst/>
                        </a:rPr>
                        <a:t> 2)</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Être capable de lire et créer une VSM simple. Savoir interpréter les délais, les stocks et les dysfonctionnements systémiques.</a:t>
                      </a:r>
                      <a:endParaRPr lang="fr-FR" sz="1000" b="0"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TD3 : Mini-VSM – Cartographie d’un processus fourni en données (ou </a:t>
                      </a:r>
                      <a:r>
                        <a:rPr lang="fr-FR" sz="1000" u="none" strike="noStrike" dirty="0" err="1">
                          <a:effectLst/>
                        </a:rPr>
                        <a:t>physical</a:t>
                      </a:r>
                      <a:r>
                        <a:rPr lang="fr-FR" sz="1000" u="none" strike="noStrike" dirty="0">
                          <a:effectLst/>
                        </a:rPr>
                        <a:t> flow). Identification des leviers améliorables.</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1557542845"/>
                  </a:ext>
                </a:extLst>
              </a:tr>
              <a:tr h="508000">
                <a:tc>
                  <a:txBody>
                    <a:bodyPr/>
                    <a:lstStyle/>
                    <a:p>
                      <a:pPr algn="ctr" fontAlgn="ctr"/>
                      <a:r>
                        <a:rPr lang="en-US" sz="1000" u="none" strike="noStrike" dirty="0">
                          <a:effectLst/>
                        </a:rPr>
                        <a:t>M4</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Amélioration Continue &amp; Résolution de Problèmes (PDCA / 5 Pourquoi)</a:t>
                      </a:r>
                      <a:endParaRPr lang="fr-FR"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Apprendre à structurer une démarche d’amélioration, poser un problème, analyser, proposer des actions.</a:t>
                      </a:r>
                      <a:endParaRPr lang="fr-FR" sz="1000" b="0"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TD4 : 5 Pourquoi / Ishikawa – Sur un problème issu de la VSM précédente. Construction d’un plan PDCA.</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1073833247"/>
                  </a:ext>
                </a:extLst>
              </a:tr>
              <a:tr h="508000">
                <a:tc>
                  <a:txBody>
                    <a:bodyPr/>
                    <a:lstStyle/>
                    <a:p>
                      <a:pPr algn="ctr" fontAlgn="ctr"/>
                      <a:r>
                        <a:rPr lang="en-US" sz="1000" u="none" strike="noStrike" dirty="0">
                          <a:effectLst/>
                        </a:rPr>
                        <a:t>M5</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en-US" sz="1000" u="none" strike="noStrike" dirty="0">
                          <a:effectLst/>
                        </a:rPr>
                        <a:t>5S &amp; </a:t>
                      </a:r>
                      <a:r>
                        <a:rPr lang="en-US" sz="1000" u="none" strike="noStrike" dirty="0" err="1">
                          <a:effectLst/>
                        </a:rPr>
                        <a:t>Organisation</a:t>
                      </a:r>
                      <a:r>
                        <a:rPr lang="en-US" sz="1000" u="none" strike="noStrike" dirty="0">
                          <a:effectLst/>
                        </a:rPr>
                        <a:t> du Poste</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Savoir organiser un environnement stable, visuel et efficace. Comprendre pourquoi la stabilité est la 1ère étape Lean.</a:t>
                      </a:r>
                      <a:endParaRPr lang="fr-FR" sz="1000" b="0"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TD5 : Simulation 5S – Tri / rangement / standardisation sur photos ou matériel physique ; construction d’une checklist 5S.</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946524350"/>
                  </a:ext>
                </a:extLst>
              </a:tr>
              <a:tr h="508000">
                <a:tc>
                  <a:txBody>
                    <a:bodyPr/>
                    <a:lstStyle/>
                    <a:p>
                      <a:pPr algn="ctr" fontAlgn="ctr"/>
                      <a:r>
                        <a:rPr lang="en-US" sz="1000" u="none" strike="noStrike" dirty="0">
                          <a:effectLst/>
                        </a:rPr>
                        <a:t>M6</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Takt Time &amp; Équilibrage de Ligne</a:t>
                      </a:r>
                      <a:endParaRPr lang="fr-FR" sz="1000" b="1"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Calculer le </a:t>
                      </a:r>
                      <a:r>
                        <a:rPr lang="fr-FR" sz="1000" u="none" strike="noStrike" dirty="0" err="1">
                          <a:effectLst/>
                        </a:rPr>
                        <a:t>takt</a:t>
                      </a:r>
                      <a:r>
                        <a:rPr lang="fr-FR" sz="1000" u="none" strike="noStrike" dirty="0">
                          <a:effectLst/>
                        </a:rPr>
                        <a:t> time, identifier les déséquilibres, construire des répartitions équilibrées.</a:t>
                      </a:r>
                      <a:endParaRPr lang="fr-FR" sz="1000" b="0"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TD6 : Calculs </a:t>
                      </a:r>
                      <a:r>
                        <a:rPr lang="fr-FR" sz="1000" u="none" strike="noStrike" dirty="0" err="1">
                          <a:effectLst/>
                        </a:rPr>
                        <a:t>Takt</a:t>
                      </a:r>
                      <a:r>
                        <a:rPr lang="fr-FR" sz="1000" u="none" strike="noStrike" dirty="0">
                          <a:effectLst/>
                        </a:rPr>
                        <a:t> / équilibrage – Simulation de ligne avec temps opératoires, répartition des tâches en équipe.</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2439233447"/>
                  </a:ext>
                </a:extLst>
              </a:tr>
              <a:tr h="508000">
                <a:tc>
                  <a:txBody>
                    <a:bodyPr/>
                    <a:lstStyle/>
                    <a:p>
                      <a:pPr algn="ctr" fontAlgn="ctr"/>
                      <a:r>
                        <a:rPr lang="en-US" sz="1000" u="none" strike="noStrike" dirty="0">
                          <a:effectLst/>
                        </a:rPr>
                        <a:t>M7</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Flux Tiré, Kanban &amp; Gestion des Encours</a:t>
                      </a:r>
                      <a:endParaRPr lang="fr-FR" sz="1000" b="1"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Comprendre les systèmes Kanban (signal, limite WIP, réappro), et organiser un flux tiré.</a:t>
                      </a:r>
                      <a:endParaRPr lang="fr-FR" sz="1000" b="0"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TD7 : Mise en place d’un Kanban – Simulation de flux avec cartes Kanban + gestion des WIP + analyse de stabilité.</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1071219857"/>
                  </a:ext>
                </a:extLst>
              </a:tr>
              <a:tr h="508000">
                <a:tc>
                  <a:txBody>
                    <a:bodyPr/>
                    <a:lstStyle/>
                    <a:p>
                      <a:pPr algn="ctr" fontAlgn="ctr"/>
                      <a:r>
                        <a:rPr lang="en-US" sz="1000" u="none" strike="noStrike" dirty="0">
                          <a:effectLst/>
                        </a:rPr>
                        <a:t>M8</a:t>
                      </a:r>
                      <a:endParaRPr lang="en-US" sz="1000" b="1" i="0" u="none" strike="noStrike" dirty="0">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Pilotage Visuel &amp; Routines Lean (Gemba / AIC)</a:t>
                      </a:r>
                      <a:endParaRPr lang="fr-FR" sz="1000" b="1"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a:effectLst/>
                        </a:rPr>
                        <a:t>Savoir piloter un système Lean dans la durée. Comprendre le rôle des rituels (AIC, SQCDP), du gemba, des standards.</a:t>
                      </a:r>
                      <a:endParaRPr lang="fr-FR" sz="1000" b="0" i="0" u="none" strike="noStrike">
                        <a:solidFill>
                          <a:srgbClr val="000000"/>
                        </a:solidFill>
                        <a:effectLst/>
                        <a:latin typeface="Calibri" panose="020F0502020204030204" pitchFamily="34" charset="0"/>
                      </a:endParaRPr>
                    </a:p>
                  </a:txBody>
                  <a:tcPr marL="8467" marR="8467" marT="8467" marB="0" anchor="ctr"/>
                </a:tc>
                <a:tc>
                  <a:txBody>
                    <a:bodyPr/>
                    <a:lstStyle/>
                    <a:p>
                      <a:pPr algn="l" fontAlgn="ctr"/>
                      <a:r>
                        <a:rPr lang="fr-FR" sz="1000" u="none" strike="noStrike" dirty="0">
                          <a:effectLst/>
                        </a:rPr>
                        <a:t>TD8 : Animation d’un rituel AIC + PDCA : animation d’un point d’équipe Lean avec tableau visuel.</a:t>
                      </a:r>
                      <a:endParaRPr lang="fr-FR" sz="1000" b="1" i="0" u="none" strike="noStrike" dirty="0">
                        <a:solidFill>
                          <a:srgbClr val="000000"/>
                        </a:solidFill>
                        <a:effectLst/>
                        <a:latin typeface="Calibri" panose="020F0502020204030204" pitchFamily="34" charset="0"/>
                      </a:endParaRPr>
                    </a:p>
                  </a:txBody>
                  <a:tcPr marL="8467" marR="8467" marT="8467" marB="0" anchor="ctr"/>
                </a:tc>
                <a:extLst>
                  <a:ext uri="{0D108BD9-81ED-4DB2-BD59-A6C34878D82A}">
                    <a16:rowId xmlns:a16="http://schemas.microsoft.com/office/drawing/2014/main" val="1189434359"/>
                  </a:ext>
                </a:extLst>
              </a:tr>
            </a:tbl>
          </a:graphicData>
        </a:graphic>
      </p:graphicFrame>
    </p:spTree>
    <p:extLst>
      <p:ext uri="{BB962C8B-B14F-4D97-AF65-F5344CB8AC3E}">
        <p14:creationId xmlns:p14="http://schemas.microsoft.com/office/powerpoint/2010/main" val="35627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830" y="2287173"/>
            <a:ext cx="3379862" cy="1143000"/>
          </a:xfrm>
        </p:spPr>
        <p:txBody>
          <a:bodyPr>
            <a:normAutofit fontScale="90000"/>
          </a:bodyPr>
          <a:lstStyle/>
          <a:p>
            <a:r>
              <a:rPr lang="fr-FR" sz="4400" b="1" dirty="0"/>
              <a:t>Chapitre 5 </a:t>
            </a:r>
            <a:br>
              <a:rPr lang="fr-FR" sz="4400" b="1" dirty="0"/>
            </a:br>
            <a:r>
              <a:rPr lang="fr-FR" sz="4400" b="1" dirty="0"/>
              <a:t>5S &amp; Organisation du Poste – TD</a:t>
            </a:r>
            <a:br>
              <a:rPr lang="fr-FR" sz="4400" b="1" dirty="0"/>
            </a:br>
            <a:r>
              <a:rPr lang="fr-FR" sz="4400" b="1" dirty="0"/>
              <a:t>L’audit du chaos</a:t>
            </a:r>
            <a:endParaRPr lang="fr-FR" sz="4400" dirty="0"/>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4AB03A2E-239A-70B2-AD72-EB9BB20C9B09}"/>
              </a:ext>
            </a:extLst>
          </p:cNvPr>
          <p:cNvPicPr>
            <a:picLocks noChangeAspect="1"/>
          </p:cNvPicPr>
          <p:nvPr/>
        </p:nvPicPr>
        <p:blipFill>
          <a:blip r:embed="rId2"/>
          <a:stretch>
            <a:fillRect/>
          </a:stretch>
        </p:blipFill>
        <p:spPr>
          <a:xfrm>
            <a:off x="3709521" y="384340"/>
            <a:ext cx="5139649" cy="5303463"/>
          </a:xfrm>
          <a:prstGeom prst="rect">
            <a:avLst/>
          </a:prstGeom>
        </p:spPr>
      </p:pic>
    </p:spTree>
    <p:extLst>
      <p:ext uri="{BB962C8B-B14F-4D97-AF65-F5344CB8AC3E}">
        <p14:creationId xmlns:p14="http://schemas.microsoft.com/office/powerpoint/2010/main" val="3802945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5 </a:t>
            </a:r>
            <a:br>
              <a:rPr lang="fr-FR" sz="4400" b="1" dirty="0"/>
            </a:br>
            <a:r>
              <a:rPr lang="fr-FR" sz="4400" b="1" dirty="0"/>
              <a:t>5S &amp; Organisation du Poste - TD</a:t>
            </a:r>
            <a:endParaRPr lang="fr-FR" sz="4400" dirty="0"/>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a:extLst>
              <a:ext uri="{FF2B5EF4-FFF2-40B4-BE49-F238E27FC236}">
                <a16:creationId xmlns:a16="http://schemas.microsoft.com/office/drawing/2014/main" id="{5C01B456-4EC2-C60A-ADDF-53D0C1664D70}"/>
              </a:ext>
            </a:extLst>
          </p:cNvPr>
          <p:cNvGraphicFramePr>
            <a:graphicFrameLocks noGrp="1"/>
          </p:cNvGraphicFramePr>
          <p:nvPr>
            <p:extLst>
              <p:ext uri="{D42A27DB-BD31-4B8C-83A1-F6EECF244321}">
                <p14:modId xmlns:p14="http://schemas.microsoft.com/office/powerpoint/2010/main" val="2003573604"/>
              </p:ext>
            </p:extLst>
          </p:nvPr>
        </p:nvGraphicFramePr>
        <p:xfrm>
          <a:off x="457200" y="2089631"/>
          <a:ext cx="8362800" cy="1624974"/>
        </p:xfrm>
        <a:graphic>
          <a:graphicData uri="http://schemas.openxmlformats.org/drawingml/2006/table">
            <a:tbl>
              <a:tblPr>
                <a:tableStyleId>{69C7853C-536D-4A76-A0AE-DD22124D55A5}</a:tableStyleId>
              </a:tblPr>
              <a:tblGrid>
                <a:gridCol w="2787600">
                  <a:extLst>
                    <a:ext uri="{9D8B030D-6E8A-4147-A177-3AD203B41FA5}">
                      <a16:colId xmlns:a16="http://schemas.microsoft.com/office/drawing/2014/main" val="583895400"/>
                    </a:ext>
                  </a:extLst>
                </a:gridCol>
                <a:gridCol w="2787600">
                  <a:extLst>
                    <a:ext uri="{9D8B030D-6E8A-4147-A177-3AD203B41FA5}">
                      <a16:colId xmlns:a16="http://schemas.microsoft.com/office/drawing/2014/main" val="2157283604"/>
                    </a:ext>
                  </a:extLst>
                </a:gridCol>
                <a:gridCol w="2787600">
                  <a:extLst>
                    <a:ext uri="{9D8B030D-6E8A-4147-A177-3AD203B41FA5}">
                      <a16:colId xmlns:a16="http://schemas.microsoft.com/office/drawing/2014/main" val="3352502806"/>
                    </a:ext>
                  </a:extLst>
                </a:gridCol>
              </a:tblGrid>
              <a:tr h="222071">
                <a:tc>
                  <a:txBody>
                    <a:bodyPr/>
                    <a:lstStyle/>
                    <a:p>
                      <a:pPr algn="ctr"/>
                      <a:r>
                        <a:rPr lang="fr-FR" sz="1400" b="1" dirty="0">
                          <a:effectLst/>
                        </a:rPr>
                        <a:t>Anomalie identifiée (Photo 1)</a:t>
                      </a:r>
                      <a:endParaRPr lang="fr-FR" sz="1400" dirty="0">
                        <a:effectLst/>
                        <a:latin typeface="Google Sans Text"/>
                      </a:endParaRPr>
                    </a:p>
                  </a:txBody>
                  <a:tcPr marL="56575" marR="56575" marT="28287" marB="28287" anchor="ctr"/>
                </a:tc>
                <a:tc>
                  <a:txBody>
                    <a:bodyPr/>
                    <a:lstStyle/>
                    <a:p>
                      <a:pPr algn="ctr"/>
                      <a:r>
                        <a:rPr lang="fr-FR" sz="1400" b="1">
                          <a:effectLst/>
                        </a:rPr>
                        <a:t>Risque / Impact Production</a:t>
                      </a:r>
                      <a:endParaRPr lang="fr-FR" sz="1400">
                        <a:effectLst/>
                        <a:latin typeface="Google Sans Text"/>
                      </a:endParaRPr>
                    </a:p>
                  </a:txBody>
                  <a:tcPr marL="56575" marR="56575" marT="28287" marB="28287" anchor="ctr"/>
                </a:tc>
                <a:tc>
                  <a:txBody>
                    <a:bodyPr/>
                    <a:lstStyle/>
                    <a:p>
                      <a:pPr algn="ctr"/>
                      <a:r>
                        <a:rPr lang="fr-FR" sz="1400" b="1" dirty="0">
                          <a:effectLst/>
                        </a:rPr>
                        <a:t>Catégorie 5S / Muda</a:t>
                      </a:r>
                      <a:endParaRPr lang="fr-FR" sz="1400" dirty="0">
                        <a:effectLst/>
                        <a:latin typeface="Google Sans Text"/>
                      </a:endParaRPr>
                    </a:p>
                  </a:txBody>
                  <a:tcPr marL="56575" marR="56575" marT="28287" marB="28287" anchor="ctr"/>
                </a:tc>
                <a:extLst>
                  <a:ext uri="{0D108BD9-81ED-4DB2-BD59-A6C34878D82A}">
                    <a16:rowId xmlns:a16="http://schemas.microsoft.com/office/drawing/2014/main" val="1578545247"/>
                  </a:ext>
                </a:extLst>
              </a:tr>
              <a:tr h="271008">
                <a:tc>
                  <a:txBody>
                    <a:bodyPr/>
                    <a:lstStyle/>
                    <a:p>
                      <a:endParaRPr lang="fr-FR" sz="1400" dirty="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extLst>
                  <a:ext uri="{0D108BD9-81ED-4DB2-BD59-A6C34878D82A}">
                    <a16:rowId xmlns:a16="http://schemas.microsoft.com/office/drawing/2014/main" val="4177956015"/>
                  </a:ext>
                </a:extLst>
              </a:tr>
              <a:tr h="271008">
                <a:tc>
                  <a:txBody>
                    <a:bodyPr/>
                    <a:lstStyle/>
                    <a:p>
                      <a:endParaRPr lang="fr-FR" sz="1400" dirty="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tc>
                  <a:txBody>
                    <a:bodyPr/>
                    <a:lstStyle/>
                    <a:p>
                      <a:endParaRPr lang="fr-FR" sz="1400">
                        <a:effectLst/>
                        <a:latin typeface="Google Sans Text"/>
                      </a:endParaRPr>
                    </a:p>
                  </a:txBody>
                  <a:tcPr marL="56575" marR="56575" marT="28287" marB="28287" anchor="ctr"/>
                </a:tc>
                <a:extLst>
                  <a:ext uri="{0D108BD9-81ED-4DB2-BD59-A6C34878D82A}">
                    <a16:rowId xmlns:a16="http://schemas.microsoft.com/office/drawing/2014/main" val="4079506338"/>
                  </a:ext>
                </a:extLst>
              </a:tr>
              <a:tr h="271008">
                <a:tc>
                  <a:txBody>
                    <a:bodyPr/>
                    <a:lstStyle/>
                    <a:p>
                      <a:endParaRPr lang="fr-FR" sz="1400" dirty="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tc>
                  <a:txBody>
                    <a:bodyPr/>
                    <a:lstStyle/>
                    <a:p>
                      <a:endParaRPr lang="fr-FR" sz="1400">
                        <a:effectLst/>
                        <a:latin typeface="Google Sans Text"/>
                      </a:endParaRPr>
                    </a:p>
                  </a:txBody>
                  <a:tcPr marL="56575" marR="56575" marT="28287" marB="28287" anchor="ctr"/>
                </a:tc>
                <a:extLst>
                  <a:ext uri="{0D108BD9-81ED-4DB2-BD59-A6C34878D82A}">
                    <a16:rowId xmlns:a16="http://schemas.microsoft.com/office/drawing/2014/main" val="3488487458"/>
                  </a:ext>
                </a:extLst>
              </a:tr>
              <a:tr h="271008">
                <a:tc>
                  <a:txBody>
                    <a:bodyPr/>
                    <a:lstStyle/>
                    <a:p>
                      <a:endParaRPr lang="fr-FR" sz="140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tc>
                  <a:txBody>
                    <a:bodyPr/>
                    <a:lstStyle/>
                    <a:p>
                      <a:endParaRPr lang="pt-BR" sz="1400" dirty="0">
                        <a:effectLst/>
                        <a:latin typeface="Google Sans Text"/>
                      </a:endParaRPr>
                    </a:p>
                  </a:txBody>
                  <a:tcPr marL="56575" marR="56575" marT="28287" marB="28287" anchor="ctr"/>
                </a:tc>
                <a:extLst>
                  <a:ext uri="{0D108BD9-81ED-4DB2-BD59-A6C34878D82A}">
                    <a16:rowId xmlns:a16="http://schemas.microsoft.com/office/drawing/2014/main" val="1582414659"/>
                  </a:ext>
                </a:extLst>
              </a:tr>
              <a:tr h="271008">
                <a:tc>
                  <a:txBody>
                    <a:bodyPr/>
                    <a:lstStyle/>
                    <a:p>
                      <a:endParaRPr lang="fr-FR" sz="140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tc>
                  <a:txBody>
                    <a:bodyPr/>
                    <a:lstStyle/>
                    <a:p>
                      <a:endParaRPr lang="fr-FR" sz="1400" dirty="0">
                        <a:effectLst/>
                        <a:latin typeface="Google Sans Text"/>
                      </a:endParaRPr>
                    </a:p>
                  </a:txBody>
                  <a:tcPr marL="56575" marR="56575" marT="28287" marB="28287" anchor="ctr"/>
                </a:tc>
                <a:extLst>
                  <a:ext uri="{0D108BD9-81ED-4DB2-BD59-A6C34878D82A}">
                    <a16:rowId xmlns:a16="http://schemas.microsoft.com/office/drawing/2014/main" val="3685528970"/>
                  </a:ext>
                </a:extLst>
              </a:tr>
            </a:tbl>
          </a:graphicData>
        </a:graphic>
      </p:graphicFrame>
      <p:graphicFrame>
        <p:nvGraphicFramePr>
          <p:cNvPr id="5" name="Table 4">
            <a:extLst>
              <a:ext uri="{FF2B5EF4-FFF2-40B4-BE49-F238E27FC236}">
                <a16:creationId xmlns:a16="http://schemas.microsoft.com/office/drawing/2014/main" id="{C5523EA5-0C98-1BEE-D558-8E251F22D1E0}"/>
              </a:ext>
            </a:extLst>
          </p:cNvPr>
          <p:cNvGraphicFramePr>
            <a:graphicFrameLocks noGrp="1"/>
          </p:cNvGraphicFramePr>
          <p:nvPr>
            <p:extLst>
              <p:ext uri="{D42A27DB-BD31-4B8C-83A1-F6EECF244321}">
                <p14:modId xmlns:p14="http://schemas.microsoft.com/office/powerpoint/2010/main" val="3141863157"/>
              </p:ext>
            </p:extLst>
          </p:nvPr>
        </p:nvGraphicFramePr>
        <p:xfrm>
          <a:off x="457200" y="3924985"/>
          <a:ext cx="8362800" cy="1920240"/>
        </p:xfrm>
        <a:graphic>
          <a:graphicData uri="http://schemas.openxmlformats.org/drawingml/2006/table">
            <a:tbl>
              <a:tblPr>
                <a:tableStyleId>{69C7853C-536D-4A76-A0AE-DD22124D55A5}</a:tableStyleId>
              </a:tblPr>
              <a:tblGrid>
                <a:gridCol w="2787600">
                  <a:extLst>
                    <a:ext uri="{9D8B030D-6E8A-4147-A177-3AD203B41FA5}">
                      <a16:colId xmlns:a16="http://schemas.microsoft.com/office/drawing/2014/main" val="2918042120"/>
                    </a:ext>
                  </a:extLst>
                </a:gridCol>
                <a:gridCol w="2787600">
                  <a:extLst>
                    <a:ext uri="{9D8B030D-6E8A-4147-A177-3AD203B41FA5}">
                      <a16:colId xmlns:a16="http://schemas.microsoft.com/office/drawing/2014/main" val="402256483"/>
                    </a:ext>
                  </a:extLst>
                </a:gridCol>
                <a:gridCol w="2787600">
                  <a:extLst>
                    <a:ext uri="{9D8B030D-6E8A-4147-A177-3AD203B41FA5}">
                      <a16:colId xmlns:a16="http://schemas.microsoft.com/office/drawing/2014/main" val="3511814239"/>
                    </a:ext>
                  </a:extLst>
                </a:gridCol>
              </a:tblGrid>
              <a:tr h="137279">
                <a:tc>
                  <a:txBody>
                    <a:bodyPr/>
                    <a:lstStyle/>
                    <a:p>
                      <a:pPr algn="ctr"/>
                      <a:r>
                        <a:rPr lang="fr-FR" sz="1600" b="1" dirty="0">
                          <a:effectLst/>
                        </a:rPr>
                        <a:t>Élément du Standard</a:t>
                      </a:r>
                      <a:endParaRPr lang="fr-FR" sz="1600" dirty="0">
                        <a:effectLst/>
                        <a:latin typeface="Google Sans Text"/>
                      </a:endParaRPr>
                    </a:p>
                  </a:txBody>
                  <a:tcPr anchor="ctr"/>
                </a:tc>
                <a:tc>
                  <a:txBody>
                    <a:bodyPr/>
                    <a:lstStyle/>
                    <a:p>
                      <a:pPr algn="ctr"/>
                      <a:r>
                        <a:rPr lang="fr-FR" sz="1600" b="1" dirty="0">
                          <a:effectLst/>
                        </a:rPr>
                        <a:t>Règle attendue (basée sur la Photo 2)</a:t>
                      </a:r>
                      <a:endParaRPr lang="fr-FR" sz="1600" dirty="0">
                        <a:effectLst/>
                        <a:latin typeface="Google Sans Text"/>
                      </a:endParaRPr>
                    </a:p>
                  </a:txBody>
                  <a:tcPr anchor="ctr"/>
                </a:tc>
                <a:tc>
                  <a:txBody>
                    <a:bodyPr/>
                    <a:lstStyle/>
                    <a:p>
                      <a:pPr algn="ctr"/>
                      <a:r>
                        <a:rPr lang="fr-FR" sz="1600" b="1" dirty="0">
                          <a:effectLst/>
                        </a:rPr>
                        <a:t>Objectif Visuel</a:t>
                      </a:r>
                      <a:endParaRPr lang="fr-FR" sz="1600" dirty="0">
                        <a:effectLst/>
                        <a:latin typeface="Google Sans Text"/>
                      </a:endParaRPr>
                    </a:p>
                  </a:txBody>
                  <a:tcPr anchor="ctr"/>
                </a:tc>
                <a:extLst>
                  <a:ext uri="{0D108BD9-81ED-4DB2-BD59-A6C34878D82A}">
                    <a16:rowId xmlns:a16="http://schemas.microsoft.com/office/drawing/2014/main" val="444743158"/>
                  </a:ext>
                </a:extLst>
              </a:tr>
              <a:tr h="0">
                <a:tc>
                  <a:txBody>
                    <a:bodyPr/>
                    <a:lstStyle/>
                    <a:p>
                      <a:endParaRPr lang="fr-FR" sz="1600" dirty="0">
                        <a:effectLst/>
                        <a:latin typeface="Google Sans Text"/>
                      </a:endParaRPr>
                    </a:p>
                  </a:txBody>
                  <a:tcPr anchor="ctr"/>
                </a:tc>
                <a:tc>
                  <a:txBody>
                    <a:bodyPr/>
                    <a:lstStyle/>
                    <a:p>
                      <a:endParaRPr lang="fr-FR" sz="1600">
                        <a:effectLst/>
                        <a:latin typeface="Google Sans Text"/>
                      </a:endParaRPr>
                    </a:p>
                  </a:txBody>
                  <a:tcPr anchor="ctr"/>
                </a:tc>
                <a:tc>
                  <a:txBody>
                    <a:bodyPr/>
                    <a:lstStyle/>
                    <a:p>
                      <a:endParaRPr lang="fr-FR" sz="1600">
                        <a:effectLst/>
                        <a:latin typeface="Google Sans Text"/>
                      </a:endParaRPr>
                    </a:p>
                  </a:txBody>
                  <a:tcPr anchor="ctr"/>
                </a:tc>
                <a:extLst>
                  <a:ext uri="{0D108BD9-81ED-4DB2-BD59-A6C34878D82A}">
                    <a16:rowId xmlns:a16="http://schemas.microsoft.com/office/drawing/2014/main" val="2167021684"/>
                  </a:ext>
                </a:extLst>
              </a:tr>
              <a:tr h="161992">
                <a:tc>
                  <a:txBody>
                    <a:bodyPr/>
                    <a:lstStyle/>
                    <a:p>
                      <a:endParaRPr lang="fr-FR" sz="1600" dirty="0">
                        <a:effectLst/>
                        <a:latin typeface="Google Sans Text"/>
                      </a:endParaRPr>
                    </a:p>
                  </a:txBody>
                  <a:tcPr anchor="ctr"/>
                </a:tc>
                <a:tc>
                  <a:txBody>
                    <a:bodyPr/>
                    <a:lstStyle/>
                    <a:p>
                      <a:endParaRPr lang="fr-FR" sz="1600" dirty="0">
                        <a:effectLst/>
                        <a:latin typeface="Google Sans Text"/>
                      </a:endParaRPr>
                    </a:p>
                  </a:txBody>
                  <a:tcPr anchor="ctr"/>
                </a:tc>
                <a:tc>
                  <a:txBody>
                    <a:bodyPr/>
                    <a:lstStyle/>
                    <a:p>
                      <a:endParaRPr lang="fr-FR" sz="1600">
                        <a:effectLst/>
                        <a:latin typeface="Google Sans Text"/>
                      </a:endParaRPr>
                    </a:p>
                  </a:txBody>
                  <a:tcPr anchor="ctr"/>
                </a:tc>
                <a:extLst>
                  <a:ext uri="{0D108BD9-81ED-4DB2-BD59-A6C34878D82A}">
                    <a16:rowId xmlns:a16="http://schemas.microsoft.com/office/drawing/2014/main" val="3743929944"/>
                  </a:ext>
                </a:extLst>
              </a:tr>
              <a:tr h="161992">
                <a:tc>
                  <a:txBody>
                    <a:bodyPr/>
                    <a:lstStyle/>
                    <a:p>
                      <a:endParaRPr lang="fr-FR" sz="1600">
                        <a:effectLst/>
                        <a:latin typeface="Google Sans Text"/>
                      </a:endParaRPr>
                    </a:p>
                  </a:txBody>
                  <a:tcPr anchor="ctr"/>
                </a:tc>
                <a:tc>
                  <a:txBody>
                    <a:bodyPr/>
                    <a:lstStyle/>
                    <a:p>
                      <a:endParaRPr lang="fr-FR" sz="1600">
                        <a:effectLst/>
                        <a:latin typeface="Google Sans Text"/>
                      </a:endParaRPr>
                    </a:p>
                  </a:txBody>
                  <a:tcPr anchor="ctr"/>
                </a:tc>
                <a:tc>
                  <a:txBody>
                    <a:bodyPr/>
                    <a:lstStyle/>
                    <a:p>
                      <a:endParaRPr lang="fr-FR" sz="1600">
                        <a:effectLst/>
                        <a:latin typeface="Google Sans Text"/>
                      </a:endParaRPr>
                    </a:p>
                  </a:txBody>
                  <a:tcPr anchor="ctr"/>
                </a:tc>
                <a:extLst>
                  <a:ext uri="{0D108BD9-81ED-4DB2-BD59-A6C34878D82A}">
                    <a16:rowId xmlns:a16="http://schemas.microsoft.com/office/drawing/2014/main" val="1618775631"/>
                  </a:ext>
                </a:extLst>
              </a:tr>
              <a:tr h="161992">
                <a:tc>
                  <a:txBody>
                    <a:bodyPr/>
                    <a:lstStyle/>
                    <a:p>
                      <a:endParaRPr lang="fr-FR" sz="1600">
                        <a:effectLst/>
                        <a:latin typeface="Google Sans Text"/>
                      </a:endParaRPr>
                    </a:p>
                  </a:txBody>
                  <a:tcPr anchor="ctr"/>
                </a:tc>
                <a:tc>
                  <a:txBody>
                    <a:bodyPr/>
                    <a:lstStyle/>
                    <a:p>
                      <a:endParaRPr lang="fr-FR" sz="1600">
                        <a:effectLst/>
                        <a:latin typeface="Google Sans Text"/>
                      </a:endParaRPr>
                    </a:p>
                  </a:txBody>
                  <a:tcPr anchor="ctr"/>
                </a:tc>
                <a:tc>
                  <a:txBody>
                    <a:bodyPr/>
                    <a:lstStyle/>
                    <a:p>
                      <a:endParaRPr lang="fr-FR" sz="1600" dirty="0">
                        <a:effectLst/>
                        <a:latin typeface="Google Sans Text"/>
                      </a:endParaRPr>
                    </a:p>
                  </a:txBody>
                  <a:tcPr anchor="ctr"/>
                </a:tc>
                <a:extLst>
                  <a:ext uri="{0D108BD9-81ED-4DB2-BD59-A6C34878D82A}">
                    <a16:rowId xmlns:a16="http://schemas.microsoft.com/office/drawing/2014/main" val="1602939837"/>
                  </a:ext>
                </a:extLst>
              </a:tr>
            </a:tbl>
          </a:graphicData>
        </a:graphic>
      </p:graphicFrame>
      <p:sp>
        <p:nvSpPr>
          <p:cNvPr id="6" name="Content Placeholder 2">
            <a:extLst>
              <a:ext uri="{FF2B5EF4-FFF2-40B4-BE49-F238E27FC236}">
                <a16:creationId xmlns:a16="http://schemas.microsoft.com/office/drawing/2014/main" id="{42612D6B-38AD-9D37-6ACA-F942771BFB30}"/>
              </a:ext>
            </a:extLst>
          </p:cNvPr>
          <p:cNvSpPr>
            <a:spLocks noGrp="1"/>
          </p:cNvSpPr>
          <p:nvPr>
            <p:ph idx="1"/>
          </p:nvPr>
        </p:nvSpPr>
        <p:spPr>
          <a:xfrm>
            <a:off x="457200" y="1600200"/>
            <a:ext cx="8229600" cy="4525963"/>
          </a:xfrm>
        </p:spPr>
        <p:txBody>
          <a:bodyPr>
            <a:normAutofit/>
          </a:bodyPr>
          <a:lstStyle/>
          <a:p>
            <a:pPr marL="0" indent="0" algn="ctr">
              <a:buNone/>
            </a:pPr>
            <a:r>
              <a:rPr lang="fr-FR" sz="1400" b="1" dirty="0"/>
              <a:t>Tableaux de travail pour TD « L’Audit du chaos »</a:t>
            </a:r>
            <a:endParaRPr lang="fr-FR" sz="1400" dirty="0"/>
          </a:p>
        </p:txBody>
      </p:sp>
    </p:spTree>
    <p:extLst>
      <p:ext uri="{BB962C8B-B14F-4D97-AF65-F5344CB8AC3E}">
        <p14:creationId xmlns:p14="http://schemas.microsoft.com/office/powerpoint/2010/main" val="4175252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5 </a:t>
            </a:r>
            <a:br>
              <a:rPr lang="fr-FR" sz="4400" b="1" dirty="0"/>
            </a:br>
            <a:r>
              <a:rPr lang="fr-FR" sz="4400" b="1" dirty="0"/>
              <a:t>5S &amp; Organisation du Poste - TD</a:t>
            </a:r>
            <a:endParaRPr lang="fr-FR" sz="4400" dirty="0"/>
          </a:p>
        </p:txBody>
      </p:sp>
      <p:sp>
        <p:nvSpPr>
          <p:cNvPr id="3" name="Content Placeholder 2"/>
          <p:cNvSpPr>
            <a:spLocks noGrp="1"/>
          </p:cNvSpPr>
          <p:nvPr>
            <p:ph idx="1"/>
          </p:nvPr>
        </p:nvSpPr>
        <p:spPr/>
        <p:txBody>
          <a:bodyPr>
            <a:normAutofit/>
          </a:bodyPr>
          <a:lstStyle/>
          <a:p>
            <a:pPr marL="0" indent="0" algn="ctr">
              <a:buNone/>
            </a:pPr>
            <a:r>
              <a:rPr lang="fr-FR" sz="1400" b="1" dirty="0"/>
              <a:t>Objectif du TD : Passer d'un état de "chaos" ou d'organisation intuitive à un standard de performance en appliquant la méthode complète sur un poste de travail témoin.</a:t>
            </a:r>
          </a:p>
          <a:p>
            <a:endParaRPr lang="fr-FR" sz="1400" b="1" dirty="0"/>
          </a:p>
          <a:p>
            <a:pPr marL="0" indent="0">
              <a:buNone/>
            </a:pPr>
            <a:r>
              <a:rPr lang="fr-FR" sz="1400" b="1" dirty="0"/>
              <a:t>1. Lancement &amp; Briefing (5 min)</a:t>
            </a:r>
          </a:p>
          <a:p>
            <a:pPr marL="0" indent="0">
              <a:buNone/>
            </a:pPr>
            <a:r>
              <a:rPr lang="fr-FR" sz="1400" dirty="0"/>
              <a:t>"Vous êtes des consultants Lean. Votre client perd 15% de productivité car ses opérateurs cherchent leurs outils 1h par jour. </a:t>
            </a:r>
          </a:p>
          <a:p>
            <a:pPr marL="0" indent="0">
              <a:buNone/>
            </a:pPr>
            <a:r>
              <a:rPr lang="fr-FR" sz="1400" dirty="0"/>
              <a:t>Votre mission : Analyser le chaos (Photo 1) et valider le standard (Photo 2)."</a:t>
            </a:r>
          </a:p>
          <a:p>
            <a:pPr marL="0" indent="0">
              <a:buNone/>
            </a:pPr>
            <a:r>
              <a:rPr lang="fr-FR" sz="1400" dirty="0"/>
              <a:t>Distribution des supports (Photos A3 et Fiches de livrables).</a:t>
            </a:r>
          </a:p>
          <a:p>
            <a:pPr marL="0" indent="0">
              <a:buNone/>
            </a:pPr>
            <a:endParaRPr lang="fr-FR" sz="1400" b="1" dirty="0"/>
          </a:p>
          <a:p>
            <a:pPr marL="0" indent="0">
              <a:buNone/>
            </a:pPr>
            <a:r>
              <a:rPr lang="fr-FR" sz="1400" b="1" dirty="0"/>
              <a:t>2. Phase d'Analyse : "La Chasse aux Gaspillages" (15 min)</a:t>
            </a:r>
          </a:p>
          <a:p>
            <a:pPr marL="0" indent="0">
              <a:buNone/>
            </a:pPr>
            <a:r>
              <a:rPr lang="fr-FR" sz="1400" dirty="0"/>
              <a:t>la Photo 1 (Chaos).</a:t>
            </a:r>
          </a:p>
          <a:p>
            <a:pPr marL="0" indent="0">
              <a:buNone/>
            </a:pPr>
            <a:r>
              <a:rPr lang="fr-FR" sz="1400" dirty="0"/>
              <a:t>Action : On doit identifier et catégoriser les problèmes.</a:t>
            </a:r>
          </a:p>
          <a:p>
            <a:pPr marL="0" indent="0">
              <a:buNone/>
            </a:pPr>
            <a:r>
              <a:rPr lang="fr-FR" sz="1400" dirty="0"/>
              <a:t>Livrable 1 : Un tableau "Diagnostic" avec </a:t>
            </a:r>
            <a:r>
              <a:rPr lang="fr-FR" sz="1400" b="1" dirty="0">
                <a:solidFill>
                  <a:srgbClr val="FF0000"/>
                </a:solidFill>
              </a:rPr>
              <a:t>5 anomalies majeures et le risque associé </a:t>
            </a:r>
            <a:r>
              <a:rPr lang="fr-FR" sz="1400" dirty="0"/>
              <a:t>(ex: "Câbles au sol → Risque de chute </a:t>
            </a:r>
            <a:r>
              <a:rPr lang="fr-FR" sz="1400" dirty="0">
                <a:sym typeface="Wingdings" panose="05000000000000000000" pitchFamily="2" charset="2"/>
              </a:rPr>
              <a:t> 5S </a:t>
            </a:r>
            <a:r>
              <a:rPr lang="fr-FR" sz="1400" dirty="0"/>
              <a:t>").</a:t>
            </a:r>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0549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5 </a:t>
            </a:r>
            <a:br>
              <a:rPr lang="fr-FR" sz="4400" b="1" dirty="0"/>
            </a:br>
            <a:r>
              <a:rPr lang="fr-FR" sz="4400" b="1" dirty="0"/>
              <a:t>5S &amp; Organisation du Poste - TD</a:t>
            </a:r>
            <a:endParaRPr lang="fr-FR" sz="4400" dirty="0"/>
          </a:p>
        </p:txBody>
      </p:sp>
      <p:sp>
        <p:nvSpPr>
          <p:cNvPr id="3" name="Content Placeholder 2"/>
          <p:cNvSpPr>
            <a:spLocks noGrp="1"/>
          </p:cNvSpPr>
          <p:nvPr>
            <p:ph idx="1"/>
          </p:nvPr>
        </p:nvSpPr>
        <p:spPr/>
        <p:txBody>
          <a:bodyPr>
            <a:normAutofit fontScale="92500" lnSpcReduction="10000"/>
          </a:bodyPr>
          <a:lstStyle/>
          <a:p>
            <a:pPr marL="0" indent="0" algn="ctr">
              <a:buNone/>
            </a:pPr>
            <a:r>
              <a:rPr lang="fr-FR" sz="1500" b="1" dirty="0"/>
              <a:t>Objectif du TD : Passer d'un état de "chaos" ou d'organisation intuitive à un standard de performance en appliquant la méthode complète sur un poste de travail témoin.</a:t>
            </a:r>
          </a:p>
          <a:p>
            <a:pPr marL="0" indent="0" algn="ctr">
              <a:buNone/>
            </a:pPr>
            <a:endParaRPr lang="fr-FR" sz="1500" b="1" dirty="0"/>
          </a:p>
          <a:p>
            <a:pPr marL="0" indent="0">
              <a:buNone/>
            </a:pPr>
            <a:r>
              <a:rPr lang="fr-FR" sz="1500" b="1" dirty="0"/>
              <a:t>3. Phase de Standardisation : "Définir la Règle" (15 min)</a:t>
            </a:r>
          </a:p>
          <a:p>
            <a:pPr marL="0" indent="0">
              <a:buNone/>
            </a:pPr>
            <a:r>
              <a:rPr lang="fr-FR" sz="1500" dirty="0"/>
              <a:t>On travaille ensuite sur la Photo 2 (Standard).</a:t>
            </a:r>
          </a:p>
          <a:p>
            <a:pPr marL="0" indent="0">
              <a:buNone/>
            </a:pPr>
            <a:r>
              <a:rPr lang="fr-FR" sz="1500" dirty="0"/>
              <a:t>Livrable 2 : La "Fiche de Vie du Poste" comprenant :</a:t>
            </a:r>
          </a:p>
          <a:p>
            <a:pPr marL="0" indent="0">
              <a:buNone/>
            </a:pPr>
            <a:r>
              <a:rPr lang="fr-FR" sz="1500" dirty="0"/>
              <a:t>La règle </a:t>
            </a:r>
            <a:r>
              <a:rPr lang="fr-FR" sz="1500" b="1" dirty="0" err="1">
                <a:solidFill>
                  <a:srgbClr val="FF0000"/>
                </a:solidFill>
              </a:rPr>
              <a:t>Seiri</a:t>
            </a:r>
            <a:r>
              <a:rPr lang="fr-FR" sz="1500" b="1" dirty="0">
                <a:solidFill>
                  <a:srgbClr val="FF0000"/>
                </a:solidFill>
              </a:rPr>
              <a:t>/</a:t>
            </a:r>
            <a:r>
              <a:rPr lang="fr-FR" sz="1500" b="1" dirty="0" err="1">
                <a:solidFill>
                  <a:srgbClr val="FF0000"/>
                </a:solidFill>
              </a:rPr>
              <a:t>Seiton</a:t>
            </a:r>
            <a:r>
              <a:rPr lang="fr-FR" sz="1500" b="1" dirty="0">
                <a:solidFill>
                  <a:srgbClr val="FF0000"/>
                </a:solidFill>
              </a:rPr>
              <a:t> </a:t>
            </a:r>
            <a:r>
              <a:rPr lang="fr-FR" sz="1500" dirty="0"/>
              <a:t>: Une consigne claire sur le rangement des outils </a:t>
            </a:r>
          </a:p>
          <a:p>
            <a:pPr marL="0" indent="0">
              <a:buNone/>
            </a:pPr>
            <a:r>
              <a:rPr lang="fr-FR" sz="1500" dirty="0"/>
              <a:t>L'Auto-Audit (</a:t>
            </a:r>
            <a:r>
              <a:rPr lang="fr-FR" sz="1500" b="1" dirty="0" err="1">
                <a:solidFill>
                  <a:srgbClr val="FF0000"/>
                </a:solidFill>
              </a:rPr>
              <a:t>Shitsuke</a:t>
            </a:r>
            <a:r>
              <a:rPr lang="fr-FR" sz="1500" dirty="0"/>
              <a:t>) : 3 questions fermées (OUI/NON) pour vérifier le poste en moins de 10 secondes.</a:t>
            </a:r>
          </a:p>
          <a:p>
            <a:pPr marL="0" indent="0">
              <a:buNone/>
            </a:pPr>
            <a:endParaRPr lang="fr-FR" sz="1500" dirty="0"/>
          </a:p>
          <a:p>
            <a:pPr marL="0" indent="0">
              <a:buNone/>
            </a:pPr>
            <a:r>
              <a:rPr lang="fr-FR" sz="1500" b="1" dirty="0"/>
              <a:t>4. Conclusion &amp; "Le mot de l'Expert" (10 min)</a:t>
            </a:r>
          </a:p>
          <a:p>
            <a:pPr marL="0" indent="0">
              <a:buNone/>
            </a:pPr>
            <a:r>
              <a:rPr lang="fr-FR" sz="1500" dirty="0"/>
              <a:t>Chaque groupe présente les conclusion du groupe et nomme un porte-parole pour citer </a:t>
            </a:r>
            <a:r>
              <a:rPr lang="fr-FR" sz="1500" b="1" dirty="0"/>
              <a:t>LE</a:t>
            </a:r>
            <a:r>
              <a:rPr lang="fr-FR" sz="1500" dirty="0"/>
              <a:t> changement qui, selon le groupe apporte le plus de gain de temps.</a:t>
            </a:r>
          </a:p>
          <a:p>
            <a:pPr marL="0" indent="0">
              <a:buNone/>
            </a:pPr>
            <a:endParaRPr lang="fr-FR" sz="1500" dirty="0"/>
          </a:p>
          <a:p>
            <a:pPr marL="0" indent="0">
              <a:buNone/>
            </a:pPr>
            <a:r>
              <a:rPr lang="fr-FR" sz="1500" b="1" dirty="0"/>
              <a:t>Les Rôles au sein du groupe (5 élèves) : </a:t>
            </a:r>
          </a:p>
          <a:p>
            <a:r>
              <a:rPr lang="fr-FR" sz="1500" b="1" dirty="0"/>
              <a:t>L'Auditeur (Leader) :</a:t>
            </a:r>
            <a:r>
              <a:rPr lang="fr-FR" sz="1500" dirty="0"/>
              <a:t> Anime le débat et s'assure que toutes les anomalies de la Photo 1 sont trouvées.</a:t>
            </a:r>
          </a:p>
          <a:p>
            <a:r>
              <a:rPr lang="fr-FR" sz="1500" b="1" dirty="0"/>
              <a:t>Le Scribe (Secrétaire) :</a:t>
            </a:r>
            <a:r>
              <a:rPr lang="fr-FR" sz="1500" dirty="0"/>
              <a:t> Remplit les livrables de manière lisible et propre.</a:t>
            </a:r>
          </a:p>
          <a:p>
            <a:r>
              <a:rPr lang="fr-FR" sz="1500" b="1" dirty="0"/>
              <a:t>Le Responsable Visuel :</a:t>
            </a:r>
            <a:r>
              <a:rPr lang="fr-FR" sz="1500" dirty="0"/>
              <a:t> Analyse spécifiquement les marquages au sol et le codage couleur sur la Photo 2.</a:t>
            </a:r>
          </a:p>
          <a:p>
            <a:r>
              <a:rPr lang="fr-FR" sz="1500" b="1" dirty="0"/>
              <a:t>Le Garant du Temps (Time-</a:t>
            </a:r>
            <a:r>
              <a:rPr lang="fr-FR" sz="1500" b="1" dirty="0" err="1"/>
              <a:t>keeper</a:t>
            </a:r>
            <a:r>
              <a:rPr lang="fr-FR" sz="1500" b="1" dirty="0"/>
              <a:t>) :</a:t>
            </a:r>
            <a:r>
              <a:rPr lang="fr-FR" sz="1500" dirty="0"/>
              <a:t> Surveille le chrono pour ne pas rater la phase de standardisation.</a:t>
            </a:r>
          </a:p>
          <a:p>
            <a:r>
              <a:rPr lang="fr-FR" sz="1500" b="1" dirty="0"/>
              <a:t>Le Rapporteur :</a:t>
            </a:r>
            <a:r>
              <a:rPr lang="fr-FR" sz="1500" dirty="0"/>
              <a:t> Présente la conclusion du groupe à la classe en fin de séance</a:t>
            </a:r>
            <a:r>
              <a:rPr lang="fr-FR" sz="1200" dirty="0"/>
              <a:t>.</a:t>
            </a:r>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208187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830" y="2287173"/>
            <a:ext cx="3379862" cy="1143000"/>
          </a:xfrm>
        </p:spPr>
        <p:txBody>
          <a:bodyPr>
            <a:normAutofit fontScale="90000"/>
          </a:bodyPr>
          <a:lstStyle/>
          <a:p>
            <a:r>
              <a:rPr lang="fr-FR" sz="4400" b="1" dirty="0"/>
              <a:t>Chapitre 5 </a:t>
            </a:r>
            <a:br>
              <a:rPr lang="fr-FR" sz="4400" b="1" dirty="0"/>
            </a:br>
            <a:r>
              <a:rPr lang="fr-FR" sz="4400" b="1" dirty="0"/>
              <a:t>5S &amp; Organisation du Poste - TD</a:t>
            </a:r>
            <a:endParaRPr lang="fr-FR" sz="4400" dirty="0"/>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8C8DF855-07F0-6E43-9607-F4E227F7D486}"/>
              </a:ext>
            </a:extLst>
          </p:cNvPr>
          <p:cNvPicPr>
            <a:picLocks noChangeAspect="1"/>
          </p:cNvPicPr>
          <p:nvPr/>
        </p:nvPicPr>
        <p:blipFill>
          <a:blip r:embed="rId2"/>
          <a:stretch>
            <a:fillRect/>
          </a:stretch>
        </p:blipFill>
        <p:spPr>
          <a:xfrm>
            <a:off x="3834992" y="760364"/>
            <a:ext cx="4772691" cy="4944165"/>
          </a:xfrm>
          <a:prstGeom prst="rect">
            <a:avLst/>
          </a:prstGeom>
        </p:spPr>
      </p:pic>
    </p:spTree>
    <p:extLst>
      <p:ext uri="{BB962C8B-B14F-4D97-AF65-F5344CB8AC3E}">
        <p14:creationId xmlns:p14="http://schemas.microsoft.com/office/powerpoint/2010/main" val="343417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5 </a:t>
            </a:r>
            <a:br>
              <a:rPr lang="fr-FR" sz="4400" b="1" dirty="0"/>
            </a:br>
            <a:r>
              <a:rPr lang="fr-FR" sz="4400" b="1" dirty="0"/>
              <a:t>5S &amp; Organisation du Poste - TD</a:t>
            </a:r>
            <a:endParaRPr lang="fr-FR" sz="4400" dirty="0"/>
          </a:p>
        </p:txBody>
      </p:sp>
      <p:sp>
        <p:nvSpPr>
          <p:cNvPr id="3" name="Content Placeholder 2"/>
          <p:cNvSpPr>
            <a:spLocks noGrp="1"/>
          </p:cNvSpPr>
          <p:nvPr>
            <p:ph idx="1"/>
          </p:nvPr>
        </p:nvSpPr>
        <p:spPr/>
        <p:txBody>
          <a:bodyPr>
            <a:normAutofit fontScale="55000" lnSpcReduction="20000"/>
          </a:bodyPr>
          <a:lstStyle/>
          <a:p>
            <a:pPr marL="0" indent="0">
              <a:buNone/>
            </a:pPr>
            <a:r>
              <a:rPr lang="fr-FR" b="1" dirty="0"/>
              <a:t>1. La "Grosse Bête" (L'anomalie la plus critique)</a:t>
            </a:r>
          </a:p>
          <a:p>
            <a:pPr marL="0" indent="0">
              <a:buNone/>
            </a:pPr>
            <a:r>
              <a:rPr lang="fr-FR" b="1" dirty="0"/>
              <a:t>Identification :</a:t>
            </a:r>
            <a:r>
              <a:rPr lang="fr-FR" dirty="0"/>
              <a:t> </a:t>
            </a:r>
            <a:r>
              <a:rPr lang="fr-FR" i="1" dirty="0"/>
              <a:t>"L'anomalie la plus dangereuse sur la Photo 1 était </a:t>
            </a:r>
            <a:r>
              <a:rPr lang="fr-FR" b="1" i="1" dirty="0"/>
              <a:t>[ex: Les câbles au sol / Le mélange des rebuts]</a:t>
            </a:r>
            <a:r>
              <a:rPr lang="fr-FR" i="1" dirty="0"/>
              <a:t>.«  </a:t>
            </a:r>
            <a:r>
              <a:rPr lang="fr-FR" b="1" dirty="0"/>
              <a:t>Pourquoi :</a:t>
            </a:r>
            <a:r>
              <a:rPr lang="fr-FR" dirty="0"/>
              <a:t> </a:t>
            </a:r>
            <a:r>
              <a:rPr lang="fr-FR" i="1" dirty="0"/>
              <a:t>"Parce qu'elle menaçait directement </a:t>
            </a:r>
            <a:r>
              <a:rPr lang="fr-FR" b="1" i="1" dirty="0"/>
              <a:t>[la sécurité des personnes / la qualité livrée au client]</a:t>
            </a:r>
            <a:r>
              <a:rPr lang="fr-FR" i="1" dirty="0"/>
              <a:t>."</a:t>
            </a:r>
            <a:endParaRPr lang="fr-FR" dirty="0"/>
          </a:p>
          <a:p>
            <a:pPr marL="0" indent="0">
              <a:buNone/>
            </a:pPr>
            <a:endParaRPr lang="fr-FR" b="1" dirty="0"/>
          </a:p>
          <a:p>
            <a:pPr marL="0" indent="0">
              <a:buNone/>
            </a:pPr>
            <a:r>
              <a:rPr lang="fr-FR" b="1" dirty="0"/>
              <a:t>2. Le Gain d'Efficacité (Estimation chiffrée)</a:t>
            </a:r>
          </a:p>
          <a:p>
            <a:pPr marL="0" indent="0">
              <a:buNone/>
            </a:pPr>
            <a:r>
              <a:rPr lang="fr-FR" b="1" dirty="0"/>
              <a:t>Calcul flash :</a:t>
            </a:r>
            <a:r>
              <a:rPr lang="fr-FR" dirty="0"/>
              <a:t> </a:t>
            </a:r>
            <a:r>
              <a:rPr lang="fr-FR" i="1" dirty="0"/>
              <a:t>"Grâce au Shadow </a:t>
            </a:r>
            <a:r>
              <a:rPr lang="fr-FR" i="1" dirty="0" err="1"/>
              <a:t>Board</a:t>
            </a:r>
            <a:r>
              <a:rPr lang="fr-FR" i="1" dirty="0"/>
              <a:t> et au tri des bacs de la Photo 2, nous estimons un gain de </a:t>
            </a:r>
            <a:r>
              <a:rPr lang="fr-FR" b="1" i="1" dirty="0"/>
              <a:t>[ex: 10 minutes]</a:t>
            </a:r>
            <a:r>
              <a:rPr lang="fr-FR" i="1" dirty="0"/>
              <a:t> par heure et par </a:t>
            </a:r>
            <a:r>
              <a:rPr lang="fr-FR" i="1" dirty="0" err="1"/>
              <a:t>opérateur."</a:t>
            </a:r>
            <a:r>
              <a:rPr lang="fr-FR" b="1" dirty="0" err="1"/>
              <a:t>Impact</a:t>
            </a:r>
            <a:r>
              <a:rPr lang="fr-FR" b="1" dirty="0"/>
              <a:t> :</a:t>
            </a:r>
            <a:r>
              <a:rPr lang="fr-FR" dirty="0"/>
              <a:t> </a:t>
            </a:r>
            <a:r>
              <a:rPr lang="fr-FR" i="1" dirty="0"/>
              <a:t>"Cela représente </a:t>
            </a:r>
            <a:r>
              <a:rPr lang="fr-FR" b="1" i="1" dirty="0"/>
              <a:t>[ex: 1h20]</a:t>
            </a:r>
            <a:r>
              <a:rPr lang="fr-FR" i="1" dirty="0"/>
              <a:t> de production supplémentaire par poste et par jour."</a:t>
            </a:r>
            <a:endParaRPr lang="fr-FR" dirty="0"/>
          </a:p>
          <a:p>
            <a:pPr marL="0" indent="0">
              <a:buNone/>
            </a:pPr>
            <a:endParaRPr lang="fr-FR" b="1" dirty="0"/>
          </a:p>
          <a:p>
            <a:pPr marL="0" indent="0">
              <a:buNone/>
            </a:pPr>
            <a:r>
              <a:rPr lang="fr-FR" b="1" dirty="0"/>
              <a:t>3. La Règle d'Or (Le Standard)</a:t>
            </a:r>
          </a:p>
          <a:p>
            <a:pPr marL="0" indent="0">
              <a:buNone/>
            </a:pPr>
            <a:r>
              <a:rPr lang="fr-FR" b="1" dirty="0"/>
              <a:t>Engagement :</a:t>
            </a:r>
            <a:r>
              <a:rPr lang="fr-FR" dirty="0"/>
              <a:t> </a:t>
            </a:r>
            <a:r>
              <a:rPr lang="fr-FR" i="1" dirty="0"/>
              <a:t>"Notre règle favorite est : </a:t>
            </a:r>
            <a:r>
              <a:rPr lang="fr-FR" b="1" i="1" dirty="0"/>
              <a:t>'Une ombre vide = une action immédiate'</a:t>
            </a:r>
            <a:r>
              <a:rPr lang="fr-FR" i="1" dirty="0"/>
              <a:t>. C'est le cœur du management visuel pour ne plus jamais chercher un outil."</a:t>
            </a:r>
            <a:endParaRPr lang="fr-FR" dirty="0"/>
          </a:p>
          <a:p>
            <a:pPr marL="0" indent="0">
              <a:buNone/>
            </a:pPr>
            <a:endParaRPr lang="fr-FR" b="1" dirty="0"/>
          </a:p>
          <a:p>
            <a:pPr marL="0" indent="0">
              <a:buNone/>
            </a:pPr>
            <a:r>
              <a:rPr lang="fr-FR" b="1" dirty="0"/>
              <a:t>4. Le Conseil au Manager (Conclusion)</a:t>
            </a:r>
          </a:p>
          <a:p>
            <a:pPr marL="0" indent="0">
              <a:buNone/>
            </a:pPr>
            <a:r>
              <a:rPr lang="fr-FR" b="1" dirty="0"/>
              <a:t>Pérennité :</a:t>
            </a:r>
            <a:r>
              <a:rPr lang="fr-FR" dirty="0"/>
              <a:t> </a:t>
            </a:r>
            <a:r>
              <a:rPr lang="fr-FR" i="1" dirty="0"/>
              <a:t>"Pour que ce poste reste comme sur la Photo 2, nous préconisons un </a:t>
            </a:r>
            <a:r>
              <a:rPr lang="fr-FR" b="1" i="1" dirty="0"/>
              <a:t>audit flash de 30 secondes</a:t>
            </a:r>
            <a:r>
              <a:rPr lang="fr-FR" i="1" dirty="0"/>
              <a:t> chaque fin de poste par l'opérateur lui-même."</a:t>
            </a:r>
            <a:endParaRPr lang="fr-FR" dirty="0"/>
          </a:p>
          <a:p>
            <a:endParaRPr lang="fr-FR" sz="900" dirty="0"/>
          </a:p>
        </p:txBody>
      </p:sp>
      <p:sp>
        <p:nvSpPr>
          <p:cNvPr id="4" name="Rectangle 3"/>
          <p:cNvSpPr/>
          <p:nvPr/>
        </p:nvSpPr>
        <p:spPr>
          <a:xfrm>
            <a:off x="180000" y="6113660"/>
            <a:ext cx="8640000" cy="3600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97797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6 </a:t>
            </a:r>
            <a:br>
              <a:rPr lang="fr-FR" sz="4400" b="1" dirty="0"/>
            </a:br>
            <a:r>
              <a:rPr lang="fr-FR" sz="4400" b="1" dirty="0" err="1"/>
              <a:t>Takt</a:t>
            </a:r>
            <a:r>
              <a:rPr lang="fr-FR" sz="4400" b="1" dirty="0"/>
              <a:t> Time &amp; Équilibrage de Ligne - TD</a:t>
            </a:r>
            <a:endParaRPr lang="fr-FR" sz="4400" dirty="0"/>
          </a:p>
        </p:txBody>
      </p:sp>
      <p:sp>
        <p:nvSpPr>
          <p:cNvPr id="3" name="Content Placeholder 2"/>
          <p:cNvSpPr>
            <a:spLocks noGrp="1"/>
          </p:cNvSpPr>
          <p:nvPr>
            <p:ph idx="1"/>
          </p:nvPr>
        </p:nvSpPr>
        <p:spPr/>
        <p:txBody>
          <a:bodyPr>
            <a:normAutofit fontScale="47500" lnSpcReduction="20000"/>
          </a:bodyPr>
          <a:lstStyle/>
          <a:p>
            <a:pPr marL="0" indent="0" algn="ctr">
              <a:buNone/>
            </a:pPr>
            <a:r>
              <a:rPr lang="fr-FR" b="1" dirty="0"/>
              <a:t>TD Synthèse – Équilibrage de votre Îlot</a:t>
            </a:r>
          </a:p>
          <a:p>
            <a:pPr marL="0" indent="0">
              <a:buNone/>
            </a:pPr>
            <a:endParaRPr lang="fr-FR" b="1" dirty="0"/>
          </a:p>
          <a:p>
            <a:pPr marL="0" indent="0">
              <a:buNone/>
            </a:pPr>
            <a:r>
              <a:rPr lang="fr-FR" b="1" dirty="0"/>
              <a:t>1. Le Contexte (Le Scénario)</a:t>
            </a:r>
          </a:p>
          <a:p>
            <a:pPr marL="0" indent="0">
              <a:buNone/>
            </a:pPr>
            <a:endParaRPr lang="fr-FR" dirty="0"/>
          </a:p>
          <a:p>
            <a:pPr marL="0" indent="0">
              <a:buNone/>
            </a:pPr>
            <a:r>
              <a:rPr lang="fr-FR" dirty="0"/>
              <a:t>L'entreprise reçoit une commande urgente pour un nouveau modèle de sous-ensemble mécanique</a:t>
            </a:r>
          </a:p>
          <a:p>
            <a:r>
              <a:rPr lang="fr-FR" b="1" dirty="0"/>
              <a:t>Demande client :</a:t>
            </a:r>
            <a:r>
              <a:rPr lang="fr-FR" dirty="0"/>
              <a:t> 80 unités par jour.</a:t>
            </a:r>
          </a:p>
          <a:p>
            <a:r>
              <a:rPr lang="fr-FR" b="1" dirty="0"/>
              <a:t>Temps d'ouverture :</a:t>
            </a:r>
            <a:r>
              <a:rPr lang="fr-FR" dirty="0"/>
              <a:t> 8h (soit 480 minutes), avec 2 pauses de 10 minutes (Total net : </a:t>
            </a:r>
            <a:r>
              <a:rPr lang="fr-FR" b="1" dirty="0"/>
              <a:t>460 min</a:t>
            </a:r>
            <a:r>
              <a:rPr lang="fr-FR" dirty="0"/>
              <a:t>).</a:t>
            </a:r>
          </a:p>
          <a:p>
            <a:r>
              <a:rPr lang="fr-FR" b="1" dirty="0"/>
              <a:t>Processus actuel :</a:t>
            </a:r>
            <a:r>
              <a:rPr lang="fr-FR" dirty="0"/>
              <a:t> Le montage est réalisé sur un îlot non optimisé où les opérateurs se partagent les tâches de manière informelle. On observe des stocks qui s'accumulent avant l'étape de finition et des opérateurs qui attendent parfois leurs pièces.</a:t>
            </a:r>
          </a:p>
          <a:p>
            <a:pPr marL="0" indent="0">
              <a:buNone/>
            </a:pPr>
            <a:endParaRPr lang="fr-FR" b="1" dirty="0"/>
          </a:p>
          <a:p>
            <a:pPr marL="0" indent="0">
              <a:buNone/>
            </a:pPr>
            <a:r>
              <a:rPr lang="fr-FR" b="1" dirty="0"/>
              <a:t>2. Les Objectifs du TD :</a:t>
            </a:r>
          </a:p>
          <a:p>
            <a:endParaRPr lang="fr-FR" dirty="0"/>
          </a:p>
          <a:p>
            <a:r>
              <a:rPr lang="fr-FR" dirty="0"/>
              <a:t>Calculer le </a:t>
            </a:r>
            <a:r>
              <a:rPr lang="fr-FR" b="1" dirty="0" err="1"/>
              <a:t>Takt</a:t>
            </a:r>
            <a:r>
              <a:rPr lang="fr-FR" b="1" dirty="0"/>
              <a:t> Time</a:t>
            </a:r>
            <a:r>
              <a:rPr lang="fr-FR" dirty="0"/>
              <a:t> réel basé sur les données de production.</a:t>
            </a:r>
          </a:p>
          <a:p>
            <a:r>
              <a:rPr lang="fr-FR" dirty="0"/>
              <a:t>Identifier le </a:t>
            </a:r>
            <a:r>
              <a:rPr lang="fr-FR" b="1" dirty="0"/>
              <a:t>Goulot d'Étranglement</a:t>
            </a:r>
            <a:r>
              <a:rPr lang="fr-FR" dirty="0"/>
              <a:t> via les relevés de temps.</a:t>
            </a:r>
          </a:p>
          <a:p>
            <a:r>
              <a:rPr lang="fr-FR" dirty="0"/>
              <a:t>Calculer le </a:t>
            </a:r>
            <a:r>
              <a:rPr lang="fr-FR" b="1" dirty="0"/>
              <a:t>Nombre d'Opérateurs (</a:t>
            </a:r>
            <a:r>
              <a:rPr lang="fr-FR" b="1" dirty="0">
                <a:effectLst/>
              </a:rPr>
              <a:t>N</a:t>
            </a:r>
            <a:r>
              <a:rPr lang="fr-FR" b="1" dirty="0"/>
              <a:t>)</a:t>
            </a:r>
            <a:r>
              <a:rPr lang="fr-FR" dirty="0"/>
              <a:t> théorique.</a:t>
            </a:r>
          </a:p>
          <a:p>
            <a:r>
              <a:rPr lang="fr-FR" dirty="0"/>
              <a:t>Réaliser un graphique </a:t>
            </a:r>
            <a:r>
              <a:rPr lang="fr-FR" b="1" dirty="0" err="1"/>
              <a:t>Yamazumi</a:t>
            </a:r>
            <a:r>
              <a:rPr lang="fr-FR" dirty="0"/>
              <a:t> "Avant / Après".</a:t>
            </a:r>
          </a:p>
          <a:p>
            <a:r>
              <a:rPr lang="fr-FR" dirty="0"/>
              <a:t>Proposer un </a:t>
            </a:r>
            <a:r>
              <a:rPr lang="fr-FR" b="1" dirty="0"/>
              <a:t>nouvel équilibrage</a:t>
            </a:r>
            <a:r>
              <a:rPr lang="fr-FR" dirty="0"/>
              <a:t> respectant les contraintes de précédence.</a:t>
            </a:r>
          </a:p>
          <a:p>
            <a:pPr marL="0" indent="0">
              <a:buNone/>
              <a:defRPr sz="1800">
                <a:solidFill>
                  <a:srgbClr val="323232"/>
                </a:solidFill>
              </a:defRPr>
            </a:pPr>
            <a:endParaRPr dirty="0"/>
          </a:p>
        </p:txBody>
      </p:sp>
      <p:sp>
        <p:nvSpPr>
          <p:cNvPr id="4" name="Rectangle 3"/>
          <p:cNvSpPr/>
          <p:nvPr/>
        </p:nvSpPr>
        <p:spPr>
          <a:xfrm>
            <a:off x="180000" y="6113660"/>
            <a:ext cx="8640000" cy="360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69387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6 </a:t>
            </a:r>
            <a:br>
              <a:rPr lang="fr-FR" sz="4400" b="1" dirty="0"/>
            </a:br>
            <a:r>
              <a:rPr lang="fr-FR" sz="4400" b="1" dirty="0" err="1"/>
              <a:t>Takt</a:t>
            </a:r>
            <a:r>
              <a:rPr lang="fr-FR" sz="4400" b="1" dirty="0"/>
              <a:t> Time &amp; Équilibrage de Ligne - TD</a:t>
            </a:r>
            <a:endParaRPr lang="fr-FR" sz="4400" dirty="0"/>
          </a:p>
        </p:txBody>
      </p:sp>
      <p:sp>
        <p:nvSpPr>
          <p:cNvPr id="3" name="Content Placeholder 2"/>
          <p:cNvSpPr>
            <a:spLocks noGrp="1"/>
          </p:cNvSpPr>
          <p:nvPr>
            <p:ph idx="1"/>
          </p:nvPr>
        </p:nvSpPr>
        <p:spPr/>
        <p:txBody>
          <a:bodyPr>
            <a:normAutofit/>
          </a:bodyPr>
          <a:lstStyle/>
          <a:p>
            <a:pPr marL="0" indent="0">
              <a:buNone/>
            </a:pPr>
            <a:r>
              <a:rPr lang="fr-FR" sz="2400" b="1" dirty="0"/>
              <a:t>Déroulé</a:t>
            </a:r>
          </a:p>
        </p:txBody>
      </p:sp>
      <p:sp>
        <p:nvSpPr>
          <p:cNvPr id="4" name="Rectangle 3"/>
          <p:cNvSpPr/>
          <p:nvPr/>
        </p:nvSpPr>
        <p:spPr>
          <a:xfrm>
            <a:off x="180000" y="6113660"/>
            <a:ext cx="8640000" cy="360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a:extLst>
              <a:ext uri="{FF2B5EF4-FFF2-40B4-BE49-F238E27FC236}">
                <a16:creationId xmlns:a16="http://schemas.microsoft.com/office/drawing/2014/main" id="{981C98C8-E57B-1E66-2B80-B984DBF06487}"/>
              </a:ext>
            </a:extLst>
          </p:cNvPr>
          <p:cNvGraphicFramePr>
            <a:graphicFrameLocks noGrp="1"/>
          </p:cNvGraphicFramePr>
          <p:nvPr>
            <p:extLst>
              <p:ext uri="{D42A27DB-BD31-4B8C-83A1-F6EECF244321}">
                <p14:modId xmlns:p14="http://schemas.microsoft.com/office/powerpoint/2010/main" val="3922898508"/>
              </p:ext>
            </p:extLst>
          </p:nvPr>
        </p:nvGraphicFramePr>
        <p:xfrm>
          <a:off x="590400" y="2409269"/>
          <a:ext cx="8229600" cy="2950311"/>
        </p:xfrm>
        <a:graphic>
          <a:graphicData uri="http://schemas.openxmlformats.org/drawingml/2006/table">
            <a:tbl>
              <a:tblPr>
                <a:tableStyleId>{69C7853C-536D-4A76-A0AE-DD22124D55A5}</a:tableStyleId>
              </a:tblPr>
              <a:tblGrid>
                <a:gridCol w="933600">
                  <a:extLst>
                    <a:ext uri="{9D8B030D-6E8A-4147-A177-3AD203B41FA5}">
                      <a16:colId xmlns:a16="http://schemas.microsoft.com/office/drawing/2014/main" val="256680666"/>
                    </a:ext>
                  </a:extLst>
                </a:gridCol>
                <a:gridCol w="2599765">
                  <a:extLst>
                    <a:ext uri="{9D8B030D-6E8A-4147-A177-3AD203B41FA5}">
                      <a16:colId xmlns:a16="http://schemas.microsoft.com/office/drawing/2014/main" val="1684454054"/>
                    </a:ext>
                  </a:extLst>
                </a:gridCol>
                <a:gridCol w="4696235">
                  <a:extLst>
                    <a:ext uri="{9D8B030D-6E8A-4147-A177-3AD203B41FA5}">
                      <a16:colId xmlns:a16="http://schemas.microsoft.com/office/drawing/2014/main" val="908310962"/>
                    </a:ext>
                  </a:extLst>
                </a:gridCol>
              </a:tblGrid>
              <a:tr h="226586">
                <a:tc>
                  <a:txBody>
                    <a:bodyPr/>
                    <a:lstStyle/>
                    <a:p>
                      <a:r>
                        <a:rPr lang="fr-FR" sz="1400" b="1" dirty="0">
                          <a:effectLst/>
                        </a:rPr>
                        <a:t>Durée</a:t>
                      </a:r>
                      <a:endParaRPr lang="fr-FR" sz="1400" dirty="0">
                        <a:effectLst/>
                        <a:latin typeface="Google Sans Text"/>
                      </a:endParaRPr>
                    </a:p>
                  </a:txBody>
                  <a:tcPr marL="50288" marR="50288" marT="25144" marB="25144" anchor="ctr"/>
                </a:tc>
                <a:tc>
                  <a:txBody>
                    <a:bodyPr/>
                    <a:lstStyle/>
                    <a:p>
                      <a:r>
                        <a:rPr lang="fr-FR" sz="1400" b="1">
                          <a:effectLst/>
                        </a:rPr>
                        <a:t>Phase</a:t>
                      </a:r>
                      <a:endParaRPr lang="fr-FR" sz="1400">
                        <a:effectLst/>
                        <a:latin typeface="Google Sans Text"/>
                      </a:endParaRPr>
                    </a:p>
                  </a:txBody>
                  <a:tcPr marL="50288" marR="50288" marT="25144" marB="25144" anchor="ctr"/>
                </a:tc>
                <a:tc>
                  <a:txBody>
                    <a:bodyPr/>
                    <a:lstStyle/>
                    <a:p>
                      <a:r>
                        <a:rPr lang="fr-FR" sz="1400" b="1">
                          <a:effectLst/>
                        </a:rPr>
                        <a:t>Activité des élèves</a:t>
                      </a:r>
                      <a:endParaRPr lang="fr-FR" sz="1400">
                        <a:effectLst/>
                        <a:latin typeface="Google Sans Text"/>
                      </a:endParaRPr>
                    </a:p>
                  </a:txBody>
                  <a:tcPr marL="50288" marR="50288" marT="25144" marB="25144" anchor="ctr"/>
                </a:tc>
                <a:extLst>
                  <a:ext uri="{0D108BD9-81ED-4DB2-BD59-A6C34878D82A}">
                    <a16:rowId xmlns:a16="http://schemas.microsoft.com/office/drawing/2014/main" val="3341155932"/>
                  </a:ext>
                </a:extLst>
              </a:tr>
              <a:tr h="517911">
                <a:tc>
                  <a:txBody>
                    <a:bodyPr/>
                    <a:lstStyle/>
                    <a:p>
                      <a:r>
                        <a:rPr lang="fr-FR" sz="1400" b="1" dirty="0">
                          <a:effectLst/>
                        </a:rPr>
                        <a:t>5 min</a:t>
                      </a:r>
                      <a:endParaRPr lang="fr-FR" sz="1400" dirty="0">
                        <a:effectLst/>
                        <a:latin typeface="Google Sans Text"/>
                      </a:endParaRPr>
                    </a:p>
                  </a:txBody>
                  <a:tcPr marL="50288" marR="50288" marT="25144" marB="25144" anchor="ctr"/>
                </a:tc>
                <a:tc>
                  <a:txBody>
                    <a:bodyPr/>
                    <a:lstStyle/>
                    <a:p>
                      <a:r>
                        <a:rPr lang="fr-FR" sz="1400" b="1" dirty="0">
                          <a:effectLst/>
                        </a:rPr>
                        <a:t>Lancement &amp; </a:t>
                      </a:r>
                      <a:r>
                        <a:rPr lang="fr-FR" sz="1400" b="1" dirty="0" err="1">
                          <a:effectLst/>
                        </a:rPr>
                        <a:t>Takt</a:t>
                      </a:r>
                      <a:endParaRPr lang="fr-FR" sz="1400" dirty="0">
                        <a:effectLst/>
                        <a:latin typeface="Google Sans Text"/>
                      </a:endParaRPr>
                    </a:p>
                  </a:txBody>
                  <a:tcPr marL="50288" marR="50288" marT="25144" marB="25144" anchor="ctr"/>
                </a:tc>
                <a:tc>
                  <a:txBody>
                    <a:bodyPr/>
                    <a:lstStyle/>
                    <a:p>
                      <a:r>
                        <a:rPr lang="fr-FR" sz="1400">
                          <a:effectLst/>
                        </a:rPr>
                        <a:t>Calculer le temps disponible net et le </a:t>
                      </a:r>
                      <a:r>
                        <a:rPr lang="fr-FR" sz="1400" b="1">
                          <a:effectLst/>
                        </a:rPr>
                        <a:t>Takt Time</a:t>
                      </a:r>
                      <a:r>
                        <a:rPr lang="fr-FR" sz="1400">
                          <a:effectLst/>
                        </a:rPr>
                        <a:t>.</a:t>
                      </a:r>
                      <a:endParaRPr lang="fr-FR" sz="1400">
                        <a:effectLst/>
                        <a:latin typeface="Google Sans Text"/>
                      </a:endParaRPr>
                    </a:p>
                  </a:txBody>
                  <a:tcPr marL="50288" marR="50288" marT="25144" marB="25144" anchor="ctr"/>
                </a:tc>
                <a:extLst>
                  <a:ext uri="{0D108BD9-81ED-4DB2-BD59-A6C34878D82A}">
                    <a16:rowId xmlns:a16="http://schemas.microsoft.com/office/drawing/2014/main" val="2368676908"/>
                  </a:ext>
                </a:extLst>
              </a:tr>
              <a:tr h="615019">
                <a:tc>
                  <a:txBody>
                    <a:bodyPr/>
                    <a:lstStyle/>
                    <a:p>
                      <a:r>
                        <a:rPr lang="fr-FR" sz="1400" b="1" dirty="0">
                          <a:effectLst/>
                        </a:rPr>
                        <a:t>5 min</a:t>
                      </a:r>
                      <a:endParaRPr lang="fr-FR" sz="1400" dirty="0">
                        <a:effectLst/>
                        <a:latin typeface="Google Sans Text"/>
                      </a:endParaRPr>
                    </a:p>
                  </a:txBody>
                  <a:tcPr marL="50288" marR="50288" marT="25144" marB="25144" anchor="ctr"/>
                </a:tc>
                <a:tc>
                  <a:txBody>
                    <a:bodyPr/>
                    <a:lstStyle/>
                    <a:p>
                      <a:r>
                        <a:rPr lang="fr-FR" sz="1400" b="1" dirty="0">
                          <a:effectLst/>
                        </a:rPr>
                        <a:t>Diagnostic Initial</a:t>
                      </a:r>
                      <a:endParaRPr lang="fr-FR" sz="1400" dirty="0">
                        <a:effectLst/>
                        <a:latin typeface="Google Sans Text"/>
                      </a:endParaRPr>
                    </a:p>
                  </a:txBody>
                  <a:tcPr marL="50288" marR="50288" marT="25144" marB="25144" anchor="ctr"/>
                </a:tc>
                <a:tc>
                  <a:txBody>
                    <a:bodyPr/>
                    <a:lstStyle/>
                    <a:p>
                      <a:r>
                        <a:rPr lang="fr-FR" sz="1400" dirty="0">
                          <a:effectLst/>
                        </a:rPr>
                        <a:t>Tracer le </a:t>
                      </a:r>
                      <a:r>
                        <a:rPr lang="fr-FR" sz="1400" dirty="0" err="1">
                          <a:effectLst/>
                        </a:rPr>
                        <a:t>Yamazumi</a:t>
                      </a:r>
                      <a:r>
                        <a:rPr lang="fr-FR" sz="1400" dirty="0">
                          <a:effectLst/>
                        </a:rPr>
                        <a:t> « initial » et identifier le </a:t>
                      </a:r>
                      <a:r>
                        <a:rPr lang="fr-FR" sz="1400" b="1" dirty="0">
                          <a:effectLst/>
                        </a:rPr>
                        <a:t>Goulot</a:t>
                      </a:r>
                      <a:r>
                        <a:rPr lang="fr-FR" sz="1400" dirty="0">
                          <a:effectLst/>
                        </a:rPr>
                        <a:t> </a:t>
                      </a:r>
                      <a:endParaRPr lang="fr-FR" sz="1400" dirty="0">
                        <a:effectLst/>
                        <a:latin typeface="Google Sans Text"/>
                      </a:endParaRPr>
                    </a:p>
                  </a:txBody>
                  <a:tcPr marL="50288" marR="50288" marT="25144" marB="25144" anchor="ctr"/>
                </a:tc>
                <a:extLst>
                  <a:ext uri="{0D108BD9-81ED-4DB2-BD59-A6C34878D82A}">
                    <a16:rowId xmlns:a16="http://schemas.microsoft.com/office/drawing/2014/main" val="1567920360"/>
                  </a:ext>
                </a:extLst>
              </a:tr>
              <a:tr h="517911">
                <a:tc>
                  <a:txBody>
                    <a:bodyPr/>
                    <a:lstStyle/>
                    <a:p>
                      <a:r>
                        <a:rPr lang="fr-FR" sz="1400" b="1" dirty="0">
                          <a:effectLst/>
                        </a:rPr>
                        <a:t>10 min</a:t>
                      </a:r>
                      <a:endParaRPr lang="fr-FR" sz="1400" dirty="0">
                        <a:effectLst/>
                        <a:latin typeface="Google Sans Text"/>
                      </a:endParaRPr>
                    </a:p>
                  </a:txBody>
                  <a:tcPr marL="50288" marR="50288" marT="25144" marB="25144" anchor="ctr"/>
                </a:tc>
                <a:tc>
                  <a:txBody>
                    <a:bodyPr/>
                    <a:lstStyle/>
                    <a:p>
                      <a:r>
                        <a:rPr lang="fr-FR" sz="1400" b="1" dirty="0">
                          <a:effectLst/>
                        </a:rPr>
                        <a:t>Calcul du Besoin</a:t>
                      </a:r>
                      <a:endParaRPr lang="fr-FR" sz="1400" dirty="0">
                        <a:effectLst/>
                        <a:latin typeface="Google Sans Text"/>
                      </a:endParaRPr>
                    </a:p>
                  </a:txBody>
                  <a:tcPr marL="50288" marR="50288" marT="25144" marB="25144" anchor="ctr"/>
                </a:tc>
                <a:tc>
                  <a:txBody>
                    <a:bodyPr/>
                    <a:lstStyle/>
                    <a:p>
                      <a:r>
                        <a:rPr lang="fr-FR" sz="1400" dirty="0">
                          <a:effectLst/>
                        </a:rPr>
                        <a:t>Calculer la somme des temps et le nombre d'opérateurs théoriques (</a:t>
                      </a:r>
                      <a:r>
                        <a:rPr lang="fr-FR" sz="1400" b="1" dirty="0">
                          <a:effectLst/>
                        </a:rPr>
                        <a:t>N</a:t>
                      </a:r>
                      <a:r>
                        <a:rPr lang="fr-FR" sz="1400" dirty="0">
                          <a:effectLst/>
                        </a:rPr>
                        <a:t>).</a:t>
                      </a:r>
                      <a:endParaRPr lang="fr-FR" sz="1400" dirty="0">
                        <a:effectLst/>
                        <a:latin typeface="Google Sans Text"/>
                      </a:endParaRPr>
                    </a:p>
                  </a:txBody>
                  <a:tcPr marL="50288" marR="50288" marT="25144" marB="25144" anchor="ctr"/>
                </a:tc>
                <a:extLst>
                  <a:ext uri="{0D108BD9-81ED-4DB2-BD59-A6C34878D82A}">
                    <a16:rowId xmlns:a16="http://schemas.microsoft.com/office/drawing/2014/main" val="3010762384"/>
                  </a:ext>
                </a:extLst>
              </a:tr>
              <a:tr h="517911">
                <a:tc>
                  <a:txBody>
                    <a:bodyPr/>
                    <a:lstStyle/>
                    <a:p>
                      <a:r>
                        <a:rPr lang="fr-FR" sz="1400" b="1">
                          <a:effectLst/>
                        </a:rPr>
                        <a:t>15 min</a:t>
                      </a:r>
                      <a:endParaRPr lang="fr-FR" sz="1400">
                        <a:effectLst/>
                        <a:latin typeface="Google Sans Text"/>
                      </a:endParaRPr>
                    </a:p>
                  </a:txBody>
                  <a:tcPr marL="50288" marR="50288" marT="25144" marB="25144" anchor="ctr"/>
                </a:tc>
                <a:tc>
                  <a:txBody>
                    <a:bodyPr/>
                    <a:lstStyle/>
                    <a:p>
                      <a:r>
                        <a:rPr lang="fr-FR" sz="1400" b="1" dirty="0">
                          <a:effectLst/>
                        </a:rPr>
                        <a:t>Équilibrage Cible</a:t>
                      </a:r>
                      <a:endParaRPr lang="fr-FR" sz="1400" dirty="0">
                        <a:effectLst/>
                        <a:latin typeface="Google Sans Text"/>
                      </a:endParaRPr>
                    </a:p>
                  </a:txBody>
                  <a:tcPr marL="50288" marR="50288" marT="25144" marB="25144" anchor="ctr"/>
                </a:tc>
                <a:tc>
                  <a:txBody>
                    <a:bodyPr/>
                    <a:lstStyle/>
                    <a:p>
                      <a:r>
                        <a:rPr lang="fr-FR" sz="1400" dirty="0">
                          <a:effectLst/>
                        </a:rPr>
                        <a:t>Répartir les tâches par poste de façon à rester à l’objectif de production.</a:t>
                      </a:r>
                      <a:endParaRPr lang="fr-FR" sz="1400" dirty="0">
                        <a:effectLst/>
                        <a:latin typeface="Google Sans Text"/>
                      </a:endParaRPr>
                    </a:p>
                  </a:txBody>
                  <a:tcPr marL="50288" marR="50288" marT="25144" marB="25144" anchor="ctr"/>
                </a:tc>
                <a:extLst>
                  <a:ext uri="{0D108BD9-81ED-4DB2-BD59-A6C34878D82A}">
                    <a16:rowId xmlns:a16="http://schemas.microsoft.com/office/drawing/2014/main" val="2782697568"/>
                  </a:ext>
                </a:extLst>
              </a:tr>
              <a:tr h="517911">
                <a:tc>
                  <a:txBody>
                    <a:bodyPr/>
                    <a:lstStyle/>
                    <a:p>
                      <a:r>
                        <a:rPr lang="fr-FR" sz="1400" b="1">
                          <a:effectLst/>
                        </a:rPr>
                        <a:t>10 min</a:t>
                      </a:r>
                      <a:endParaRPr lang="fr-FR" sz="1400">
                        <a:effectLst/>
                        <a:latin typeface="Google Sans Text"/>
                      </a:endParaRPr>
                    </a:p>
                  </a:txBody>
                  <a:tcPr marL="50288" marR="50288" marT="25144" marB="25144" anchor="ctr"/>
                </a:tc>
                <a:tc>
                  <a:txBody>
                    <a:bodyPr/>
                    <a:lstStyle/>
                    <a:p>
                      <a:r>
                        <a:rPr lang="fr-FR" sz="1400" b="1">
                          <a:effectLst/>
                        </a:rPr>
                        <a:t>Pitch &amp; Synthèse</a:t>
                      </a:r>
                      <a:endParaRPr lang="fr-FR" sz="1400">
                        <a:effectLst/>
                        <a:latin typeface="Google Sans Text"/>
                      </a:endParaRPr>
                    </a:p>
                  </a:txBody>
                  <a:tcPr marL="50288" marR="50288" marT="25144" marB="25144" anchor="ctr"/>
                </a:tc>
                <a:tc>
                  <a:txBody>
                    <a:bodyPr/>
                    <a:lstStyle/>
                    <a:p>
                      <a:r>
                        <a:rPr lang="fr-FR" sz="1400" dirty="0">
                          <a:effectLst/>
                        </a:rPr>
                        <a:t>Présenter la solution et la décision pour le goulot B.</a:t>
                      </a:r>
                      <a:endParaRPr lang="fr-FR" sz="1400" dirty="0">
                        <a:effectLst/>
                        <a:latin typeface="Google Sans Text"/>
                      </a:endParaRPr>
                    </a:p>
                  </a:txBody>
                  <a:tcPr marL="50288" marR="50288" marT="25144" marB="25144" anchor="ctr"/>
                </a:tc>
                <a:extLst>
                  <a:ext uri="{0D108BD9-81ED-4DB2-BD59-A6C34878D82A}">
                    <a16:rowId xmlns:a16="http://schemas.microsoft.com/office/drawing/2014/main" val="2363131852"/>
                  </a:ext>
                </a:extLst>
              </a:tr>
            </a:tbl>
          </a:graphicData>
        </a:graphic>
      </p:graphicFrame>
    </p:spTree>
    <p:extLst>
      <p:ext uri="{BB962C8B-B14F-4D97-AF65-F5344CB8AC3E}">
        <p14:creationId xmlns:p14="http://schemas.microsoft.com/office/powerpoint/2010/main" val="1205007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6 </a:t>
            </a:r>
            <a:br>
              <a:rPr lang="fr-FR" sz="4400" b="1" dirty="0"/>
            </a:br>
            <a:r>
              <a:rPr lang="fr-FR" sz="4400" b="1" dirty="0" err="1"/>
              <a:t>Takt</a:t>
            </a:r>
            <a:r>
              <a:rPr lang="fr-FR" sz="4400" b="1" dirty="0"/>
              <a:t> Time &amp; Équilibrage de Ligne - TD</a:t>
            </a:r>
            <a:endParaRPr lang="fr-FR" sz="4400" dirty="0"/>
          </a:p>
        </p:txBody>
      </p:sp>
      <p:sp>
        <p:nvSpPr>
          <p:cNvPr id="3" name="Content Placeholder 2"/>
          <p:cNvSpPr>
            <a:spLocks noGrp="1"/>
          </p:cNvSpPr>
          <p:nvPr>
            <p:ph idx="1"/>
          </p:nvPr>
        </p:nvSpPr>
        <p:spPr/>
        <p:txBody>
          <a:bodyPr>
            <a:normAutofit fontScale="70000" lnSpcReduction="20000"/>
          </a:bodyPr>
          <a:lstStyle/>
          <a:p>
            <a:pPr marL="0" indent="0">
              <a:buNone/>
            </a:pPr>
            <a:r>
              <a:rPr lang="fr-FR" sz="2600" b="1" dirty="0"/>
              <a:t>3. Travail à réaliser (En sous-groupes)</a:t>
            </a:r>
          </a:p>
          <a:p>
            <a:pPr marL="0" indent="0">
              <a:buNone/>
            </a:pPr>
            <a:endParaRPr lang="fr-FR" sz="2600" b="1" dirty="0"/>
          </a:p>
          <a:p>
            <a:pPr marL="0" indent="0">
              <a:buNone/>
            </a:pPr>
            <a:r>
              <a:rPr lang="fr-FR" sz="2600" b="1" dirty="0"/>
              <a:t>Étape 1 : Calcul du </a:t>
            </a:r>
            <a:r>
              <a:rPr lang="fr-FR" sz="2600" b="1" dirty="0" err="1"/>
              <a:t>Takt</a:t>
            </a:r>
            <a:r>
              <a:rPr lang="fr-FR" sz="2600" b="1" dirty="0"/>
              <a:t> Time (TT)</a:t>
            </a:r>
          </a:p>
          <a:p>
            <a:pPr marL="0" indent="0">
              <a:buNone/>
            </a:pPr>
            <a:r>
              <a:rPr lang="fr-FR" sz="2600" dirty="0"/>
              <a:t>Calculez le rythme auquel une pièce doit sortir de l'îlot.</a:t>
            </a:r>
          </a:p>
          <a:p>
            <a:pPr marL="0" indent="0">
              <a:buNone/>
            </a:pPr>
            <a:endParaRPr lang="fr-FR" sz="2600" b="1" dirty="0"/>
          </a:p>
          <a:p>
            <a:pPr marL="0" indent="0">
              <a:buNone/>
            </a:pPr>
            <a:r>
              <a:rPr lang="fr-FR" sz="2600" b="1" dirty="0"/>
              <a:t>Étape 2 : Diagnostic de l'existant</a:t>
            </a:r>
          </a:p>
          <a:p>
            <a:pPr marL="0" indent="0">
              <a:buNone/>
            </a:pPr>
            <a:r>
              <a:rPr lang="fr-FR" sz="2600" dirty="0"/>
              <a:t>Identifiez la tâche </a:t>
            </a:r>
            <a:r>
              <a:rPr lang="fr-FR" sz="2600" b="1" dirty="0"/>
              <a:t>Goulot</a:t>
            </a:r>
            <a:r>
              <a:rPr lang="fr-FR" sz="2600" dirty="0"/>
              <a:t>. </a:t>
            </a:r>
          </a:p>
          <a:p>
            <a:pPr marL="0" indent="0">
              <a:buNone/>
            </a:pPr>
            <a:r>
              <a:rPr lang="fr-FR" sz="2600" dirty="0"/>
              <a:t>Calculez le </a:t>
            </a:r>
            <a:r>
              <a:rPr lang="fr-FR" sz="2600" b="1" dirty="0"/>
              <a:t>nombre d'opérateurs théorique (</a:t>
            </a:r>
            <a:r>
              <a:rPr lang="fr-FR" sz="2600" b="1" dirty="0">
                <a:effectLst/>
              </a:rPr>
              <a:t>N</a:t>
            </a:r>
            <a:r>
              <a:rPr lang="fr-FR" sz="2600" b="1" dirty="0"/>
              <a:t>)</a:t>
            </a:r>
            <a:r>
              <a:rPr lang="fr-FR" sz="2600" dirty="0"/>
              <a:t> pour répondre à la demande.</a:t>
            </a:r>
          </a:p>
          <a:p>
            <a:pPr marL="0" indent="0">
              <a:buNone/>
            </a:pPr>
            <a:r>
              <a:rPr lang="fr-FR" sz="2600" dirty="0"/>
              <a:t>Dessinez le graphique </a:t>
            </a:r>
            <a:r>
              <a:rPr lang="fr-FR" sz="2600" b="1" dirty="0" err="1"/>
              <a:t>Yamazumi</a:t>
            </a:r>
            <a:r>
              <a:rPr lang="fr-FR" sz="2600" b="1" dirty="0"/>
              <a:t> actuel &amp; le diagramme de </a:t>
            </a:r>
            <a:r>
              <a:rPr lang="fr-FR" sz="2600" b="1" dirty="0" err="1"/>
              <a:t>Yamazumi</a:t>
            </a:r>
            <a:r>
              <a:rPr lang="fr-FR" sz="2600" b="1" dirty="0"/>
              <a:t> avec la tâche goulot optimisée.</a:t>
            </a:r>
            <a:endParaRPr lang="fr-FR" sz="2600" dirty="0"/>
          </a:p>
          <a:p>
            <a:pPr marL="0" indent="0">
              <a:buNone/>
            </a:pPr>
            <a:endParaRPr lang="fr-FR" sz="2600" dirty="0"/>
          </a:p>
          <a:p>
            <a:pPr marL="0" indent="0">
              <a:buNone/>
            </a:pPr>
            <a:r>
              <a:rPr lang="fr-FR" sz="2600" b="1" dirty="0"/>
              <a:t>Étape 3 : Scénario d'optimisation</a:t>
            </a:r>
          </a:p>
          <a:p>
            <a:pPr marL="0" indent="0">
              <a:buNone/>
            </a:pPr>
            <a:r>
              <a:rPr lang="fr-FR" sz="2600" dirty="0"/>
              <a:t>Vous devez maintenant réorganiser la ligne pour atteindre l'objectif de 80 pièces/jour.</a:t>
            </a:r>
          </a:p>
          <a:p>
            <a:pPr marL="0" indent="0">
              <a:buNone/>
            </a:pPr>
            <a:r>
              <a:rPr lang="fr-FR" sz="2600" dirty="0"/>
              <a:t>Répartissez les tâches (A à H) entre le nombre d'opérateurs </a:t>
            </a:r>
            <a:r>
              <a:rPr lang="fr-FR" sz="2600" dirty="0">
                <a:effectLst/>
              </a:rPr>
              <a:t>N</a:t>
            </a:r>
            <a:r>
              <a:rPr lang="fr-FR" sz="2600" dirty="0"/>
              <a:t> calculé précédemment.</a:t>
            </a:r>
          </a:p>
          <a:p>
            <a:pPr marL="0" indent="0">
              <a:buNone/>
            </a:pPr>
            <a:r>
              <a:rPr lang="fr-FR" sz="2600" b="1" dirty="0"/>
              <a:t>Contrainte :</a:t>
            </a:r>
            <a:r>
              <a:rPr lang="fr-FR" sz="2600" dirty="0"/>
              <a:t> Respectez l'ordre logique (on ne peut pas emballer avant de contrôler !).</a:t>
            </a:r>
          </a:p>
          <a:p>
            <a:pPr marL="0" indent="0">
              <a:buNone/>
            </a:pPr>
            <a:endParaRPr lang="fr-FR" sz="2600" dirty="0"/>
          </a:p>
          <a:p>
            <a:pPr marL="0" indent="0">
              <a:buNone/>
            </a:pPr>
            <a:endParaRPr sz="1800" dirty="0"/>
          </a:p>
        </p:txBody>
      </p:sp>
      <p:sp>
        <p:nvSpPr>
          <p:cNvPr id="4" name="Rectangle 3"/>
          <p:cNvSpPr/>
          <p:nvPr/>
        </p:nvSpPr>
        <p:spPr>
          <a:xfrm>
            <a:off x="180000" y="6113660"/>
            <a:ext cx="8640000" cy="360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54426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6 </a:t>
            </a:r>
            <a:br>
              <a:rPr lang="fr-FR" sz="4400" b="1" dirty="0"/>
            </a:br>
            <a:r>
              <a:rPr lang="fr-FR" sz="4400" b="1" dirty="0" err="1"/>
              <a:t>Takt</a:t>
            </a:r>
            <a:r>
              <a:rPr lang="fr-FR" sz="4400" b="1" dirty="0"/>
              <a:t> Time &amp; Équilibrage de Ligne - TD</a:t>
            </a:r>
            <a:endParaRPr lang="fr-FR" sz="4400" dirty="0"/>
          </a:p>
        </p:txBody>
      </p:sp>
      <p:sp>
        <p:nvSpPr>
          <p:cNvPr id="3" name="Content Placeholder 2"/>
          <p:cNvSpPr>
            <a:spLocks noGrp="1"/>
          </p:cNvSpPr>
          <p:nvPr>
            <p:ph idx="1"/>
          </p:nvPr>
        </p:nvSpPr>
        <p:spPr/>
        <p:txBody>
          <a:bodyPr>
            <a:normAutofit/>
          </a:bodyPr>
          <a:lstStyle/>
          <a:p>
            <a:pPr marL="0" indent="0">
              <a:buNone/>
            </a:pPr>
            <a:r>
              <a:rPr lang="fr-FR" sz="1800" b="1" dirty="0"/>
              <a:t>2. Analyse des Tâches (Le relevé de terrain)</a:t>
            </a:r>
          </a:p>
          <a:p>
            <a:pPr marL="0" indent="0">
              <a:buNone/>
            </a:pPr>
            <a:r>
              <a:rPr lang="fr-FR" sz="1800" dirty="0"/>
              <a:t>Voici les 8 tâches élémentaires chronométrées sur le poste actuel :</a:t>
            </a:r>
          </a:p>
          <a:p>
            <a:pPr marL="0" indent="0">
              <a:buNone/>
              <a:defRPr sz="1800">
                <a:solidFill>
                  <a:srgbClr val="323232"/>
                </a:solidFill>
              </a:defRPr>
            </a:pPr>
            <a:endParaRPr dirty="0"/>
          </a:p>
        </p:txBody>
      </p:sp>
      <p:sp>
        <p:nvSpPr>
          <p:cNvPr id="4" name="Rectangle 3"/>
          <p:cNvSpPr/>
          <p:nvPr/>
        </p:nvSpPr>
        <p:spPr>
          <a:xfrm>
            <a:off x="180000" y="6113660"/>
            <a:ext cx="8640000" cy="360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BAD0EAF1-19EF-5C6B-4A0D-DDE1025E1E41}"/>
              </a:ext>
            </a:extLst>
          </p:cNvPr>
          <p:cNvGraphicFramePr>
            <a:graphicFrameLocks noGrp="1"/>
          </p:cNvGraphicFramePr>
          <p:nvPr>
            <p:extLst>
              <p:ext uri="{D42A27DB-BD31-4B8C-83A1-F6EECF244321}">
                <p14:modId xmlns:p14="http://schemas.microsoft.com/office/powerpoint/2010/main" val="3207195479"/>
              </p:ext>
            </p:extLst>
          </p:nvPr>
        </p:nvGraphicFramePr>
        <p:xfrm>
          <a:off x="537081" y="2399039"/>
          <a:ext cx="8216319" cy="3367124"/>
        </p:xfrm>
        <a:graphic>
          <a:graphicData uri="http://schemas.openxmlformats.org/drawingml/2006/table">
            <a:tbl>
              <a:tblPr>
                <a:tableStyleId>{69C7853C-536D-4A76-A0AE-DD22124D55A5}</a:tableStyleId>
              </a:tblPr>
              <a:tblGrid>
                <a:gridCol w="1155066">
                  <a:extLst>
                    <a:ext uri="{9D8B030D-6E8A-4147-A177-3AD203B41FA5}">
                      <a16:colId xmlns:a16="http://schemas.microsoft.com/office/drawing/2014/main" val="2588398043"/>
                    </a:ext>
                  </a:extLst>
                </a:gridCol>
                <a:gridCol w="2953093">
                  <a:extLst>
                    <a:ext uri="{9D8B030D-6E8A-4147-A177-3AD203B41FA5}">
                      <a16:colId xmlns:a16="http://schemas.microsoft.com/office/drawing/2014/main" val="7595432"/>
                    </a:ext>
                  </a:extLst>
                </a:gridCol>
                <a:gridCol w="2054080">
                  <a:extLst>
                    <a:ext uri="{9D8B030D-6E8A-4147-A177-3AD203B41FA5}">
                      <a16:colId xmlns:a16="http://schemas.microsoft.com/office/drawing/2014/main" val="1953811170"/>
                    </a:ext>
                  </a:extLst>
                </a:gridCol>
                <a:gridCol w="2054080">
                  <a:extLst>
                    <a:ext uri="{9D8B030D-6E8A-4147-A177-3AD203B41FA5}">
                      <a16:colId xmlns:a16="http://schemas.microsoft.com/office/drawing/2014/main" val="3172690019"/>
                    </a:ext>
                  </a:extLst>
                </a:gridCol>
              </a:tblGrid>
              <a:tr h="330391">
                <a:tc>
                  <a:txBody>
                    <a:bodyPr/>
                    <a:lstStyle/>
                    <a:p>
                      <a:r>
                        <a:rPr lang="fr-FR" sz="1400" b="1">
                          <a:effectLst/>
                        </a:rPr>
                        <a:t>Repère</a:t>
                      </a:r>
                      <a:endParaRPr lang="fr-FR" sz="1400">
                        <a:effectLst/>
                        <a:latin typeface="Google Sans Text"/>
                      </a:endParaRPr>
                    </a:p>
                  </a:txBody>
                  <a:tcPr marL="70718" marR="70718" marT="35359" marB="35359" anchor="ctr"/>
                </a:tc>
                <a:tc>
                  <a:txBody>
                    <a:bodyPr/>
                    <a:lstStyle/>
                    <a:p>
                      <a:r>
                        <a:rPr lang="fr-FR" sz="1400" b="1">
                          <a:effectLst/>
                        </a:rPr>
                        <a:t>Description de la tâche</a:t>
                      </a:r>
                      <a:endParaRPr lang="fr-FR" sz="1400">
                        <a:effectLst/>
                        <a:latin typeface="Google Sans Text"/>
                      </a:endParaRPr>
                    </a:p>
                  </a:txBody>
                  <a:tcPr marL="70718" marR="70718" marT="35359" marB="35359" anchor="ctr"/>
                </a:tc>
                <a:tc>
                  <a:txBody>
                    <a:bodyPr/>
                    <a:lstStyle/>
                    <a:p>
                      <a:r>
                        <a:rPr lang="fr-FR" sz="1400" b="1">
                          <a:effectLst/>
                        </a:rPr>
                        <a:t>Temps (min)</a:t>
                      </a:r>
                      <a:endParaRPr lang="fr-FR" sz="1400">
                        <a:effectLst/>
                        <a:latin typeface="Google Sans Text"/>
                      </a:endParaRPr>
                    </a:p>
                  </a:txBody>
                  <a:tcPr marL="70718" marR="70718" marT="35359" marB="35359" anchor="ctr"/>
                </a:tc>
                <a:tc>
                  <a:txBody>
                    <a:bodyPr/>
                    <a:lstStyle/>
                    <a:p>
                      <a:r>
                        <a:rPr lang="fr-FR" sz="1400" b="1">
                          <a:effectLst/>
                        </a:rPr>
                        <a:t>Précédence (doit suivre...)</a:t>
                      </a:r>
                      <a:endParaRPr lang="fr-FR" sz="1400">
                        <a:effectLst/>
                        <a:latin typeface="Google Sans Text"/>
                      </a:endParaRPr>
                    </a:p>
                  </a:txBody>
                  <a:tcPr marL="70718" marR="70718" marT="35359" marB="35359" anchor="ctr"/>
                </a:tc>
                <a:extLst>
                  <a:ext uri="{0D108BD9-81ED-4DB2-BD59-A6C34878D82A}">
                    <a16:rowId xmlns:a16="http://schemas.microsoft.com/office/drawing/2014/main" val="707542095"/>
                  </a:ext>
                </a:extLst>
              </a:tr>
              <a:tr h="328790">
                <a:tc>
                  <a:txBody>
                    <a:bodyPr/>
                    <a:lstStyle/>
                    <a:p>
                      <a:r>
                        <a:rPr lang="fr-FR" sz="1400" b="1">
                          <a:effectLst/>
                        </a:rPr>
                        <a:t>A</a:t>
                      </a:r>
                      <a:endParaRPr lang="fr-FR" sz="1400">
                        <a:effectLst/>
                        <a:latin typeface="Google Sans Text"/>
                      </a:endParaRPr>
                    </a:p>
                  </a:txBody>
                  <a:tcPr marL="70718" marR="70718" marT="35359" marB="35359" anchor="ctr"/>
                </a:tc>
                <a:tc>
                  <a:txBody>
                    <a:bodyPr/>
                    <a:lstStyle/>
                    <a:p>
                      <a:r>
                        <a:rPr lang="fr-FR" sz="1400">
                          <a:effectLst/>
                        </a:rPr>
                        <a:t>Déballage et préparation</a:t>
                      </a:r>
                      <a:endParaRPr lang="fr-FR" sz="1400">
                        <a:effectLst/>
                        <a:latin typeface="Google Sans Text"/>
                      </a:endParaRPr>
                    </a:p>
                  </a:txBody>
                  <a:tcPr marL="70718" marR="70718" marT="35359" marB="35359" anchor="ctr"/>
                </a:tc>
                <a:tc>
                  <a:txBody>
                    <a:bodyPr/>
                    <a:lstStyle/>
                    <a:p>
                      <a:r>
                        <a:rPr lang="fr-FR" sz="1400">
                          <a:effectLst/>
                        </a:rPr>
                        <a:t>2</a:t>
                      </a:r>
                      <a:endParaRPr lang="fr-FR" sz="1400">
                        <a:effectLst/>
                        <a:latin typeface="Google Sans Text"/>
                      </a:endParaRPr>
                    </a:p>
                  </a:txBody>
                  <a:tcPr marL="70718" marR="70718" marT="35359" marB="35359" anchor="ctr"/>
                </a:tc>
                <a:tc>
                  <a:txBody>
                    <a:bodyPr/>
                    <a:lstStyle/>
                    <a:p>
                      <a:r>
                        <a:rPr lang="fr-FR" sz="1400">
                          <a:effectLst/>
                        </a:rPr>
                        <a:t>-</a:t>
                      </a:r>
                      <a:endParaRPr lang="fr-FR" sz="1400">
                        <a:effectLst/>
                        <a:latin typeface="Google Sans Text"/>
                      </a:endParaRPr>
                    </a:p>
                  </a:txBody>
                  <a:tcPr marL="70718" marR="70718" marT="35359" marB="35359" anchor="ctr"/>
                </a:tc>
                <a:extLst>
                  <a:ext uri="{0D108BD9-81ED-4DB2-BD59-A6C34878D82A}">
                    <a16:rowId xmlns:a16="http://schemas.microsoft.com/office/drawing/2014/main" val="409870504"/>
                  </a:ext>
                </a:extLst>
              </a:tr>
              <a:tr h="328790">
                <a:tc>
                  <a:txBody>
                    <a:bodyPr/>
                    <a:lstStyle/>
                    <a:p>
                      <a:r>
                        <a:rPr lang="fr-FR" sz="1400" b="1">
                          <a:effectLst/>
                        </a:rPr>
                        <a:t>B</a:t>
                      </a:r>
                      <a:endParaRPr lang="fr-FR" sz="1400">
                        <a:effectLst/>
                        <a:latin typeface="Google Sans Text"/>
                      </a:endParaRPr>
                    </a:p>
                  </a:txBody>
                  <a:tcPr marL="70718" marR="70718" marT="35359" marB="35359" anchor="ctr"/>
                </a:tc>
                <a:tc>
                  <a:txBody>
                    <a:bodyPr/>
                    <a:lstStyle/>
                    <a:p>
                      <a:r>
                        <a:rPr lang="fr-FR" sz="1400">
                          <a:effectLst/>
                        </a:rPr>
                        <a:t>Usinage corps (TBI-450)</a:t>
                      </a:r>
                      <a:endParaRPr lang="fr-FR" sz="1400">
                        <a:effectLst/>
                        <a:latin typeface="Google Sans Text"/>
                      </a:endParaRPr>
                    </a:p>
                  </a:txBody>
                  <a:tcPr marL="70718" marR="70718" marT="35359" marB="35359" anchor="ctr"/>
                </a:tc>
                <a:tc>
                  <a:txBody>
                    <a:bodyPr/>
                    <a:lstStyle/>
                    <a:p>
                      <a:r>
                        <a:rPr lang="fr-FR" sz="1400">
                          <a:effectLst/>
                        </a:rPr>
                        <a:t>9</a:t>
                      </a:r>
                      <a:endParaRPr lang="fr-FR" sz="1400">
                        <a:effectLst/>
                        <a:latin typeface="Google Sans Text"/>
                      </a:endParaRPr>
                    </a:p>
                  </a:txBody>
                  <a:tcPr marL="70718" marR="70718" marT="35359" marB="35359" anchor="ctr"/>
                </a:tc>
                <a:tc>
                  <a:txBody>
                    <a:bodyPr/>
                    <a:lstStyle/>
                    <a:p>
                      <a:r>
                        <a:rPr lang="fr-FR" sz="1400">
                          <a:effectLst/>
                        </a:rPr>
                        <a:t>A</a:t>
                      </a:r>
                      <a:endParaRPr lang="fr-FR" sz="1400">
                        <a:effectLst/>
                        <a:latin typeface="Google Sans Text"/>
                      </a:endParaRPr>
                    </a:p>
                  </a:txBody>
                  <a:tcPr marL="70718" marR="70718" marT="35359" marB="35359" anchor="ctr"/>
                </a:tc>
                <a:extLst>
                  <a:ext uri="{0D108BD9-81ED-4DB2-BD59-A6C34878D82A}">
                    <a16:rowId xmlns:a16="http://schemas.microsoft.com/office/drawing/2014/main" val="626847054"/>
                  </a:ext>
                </a:extLst>
              </a:tr>
              <a:tr h="188681">
                <a:tc>
                  <a:txBody>
                    <a:bodyPr/>
                    <a:lstStyle/>
                    <a:p>
                      <a:r>
                        <a:rPr lang="fr-FR" sz="1400" b="1">
                          <a:effectLst/>
                        </a:rPr>
                        <a:t>C</a:t>
                      </a:r>
                      <a:endParaRPr lang="fr-FR" sz="1400">
                        <a:effectLst/>
                        <a:latin typeface="Google Sans Text"/>
                      </a:endParaRPr>
                    </a:p>
                  </a:txBody>
                  <a:tcPr marL="70718" marR="70718" marT="35359" marB="35359" anchor="ctr"/>
                </a:tc>
                <a:tc>
                  <a:txBody>
                    <a:bodyPr/>
                    <a:lstStyle/>
                    <a:p>
                      <a:r>
                        <a:rPr lang="fr-FR" sz="1400">
                          <a:effectLst/>
                        </a:rPr>
                        <a:t>Ébavurage manuel</a:t>
                      </a:r>
                      <a:endParaRPr lang="fr-FR" sz="1400">
                        <a:effectLst/>
                        <a:latin typeface="Google Sans Text"/>
                      </a:endParaRPr>
                    </a:p>
                  </a:txBody>
                  <a:tcPr marL="70718" marR="70718" marT="35359" marB="35359" anchor="ctr"/>
                </a:tc>
                <a:tc>
                  <a:txBody>
                    <a:bodyPr/>
                    <a:lstStyle/>
                    <a:p>
                      <a:r>
                        <a:rPr lang="fr-FR" sz="1400">
                          <a:effectLst/>
                        </a:rPr>
                        <a:t>4</a:t>
                      </a:r>
                      <a:endParaRPr lang="fr-FR" sz="1400">
                        <a:effectLst/>
                        <a:latin typeface="Google Sans Text"/>
                      </a:endParaRPr>
                    </a:p>
                  </a:txBody>
                  <a:tcPr marL="70718" marR="70718" marT="35359" marB="35359" anchor="ctr"/>
                </a:tc>
                <a:tc>
                  <a:txBody>
                    <a:bodyPr/>
                    <a:lstStyle/>
                    <a:p>
                      <a:r>
                        <a:rPr lang="fr-FR" sz="1400">
                          <a:effectLst/>
                        </a:rPr>
                        <a:t>B</a:t>
                      </a:r>
                      <a:endParaRPr lang="fr-FR" sz="1400">
                        <a:effectLst/>
                        <a:latin typeface="Google Sans Text"/>
                      </a:endParaRPr>
                    </a:p>
                  </a:txBody>
                  <a:tcPr marL="70718" marR="70718" marT="35359" marB="35359" anchor="ctr"/>
                </a:tc>
                <a:extLst>
                  <a:ext uri="{0D108BD9-81ED-4DB2-BD59-A6C34878D82A}">
                    <a16:rowId xmlns:a16="http://schemas.microsoft.com/office/drawing/2014/main" val="2016254890"/>
                  </a:ext>
                </a:extLst>
              </a:tr>
              <a:tr h="328790">
                <a:tc>
                  <a:txBody>
                    <a:bodyPr/>
                    <a:lstStyle/>
                    <a:p>
                      <a:r>
                        <a:rPr lang="fr-FR" sz="1400" b="1">
                          <a:effectLst/>
                        </a:rPr>
                        <a:t>D</a:t>
                      </a:r>
                      <a:endParaRPr lang="fr-FR" sz="1400">
                        <a:effectLst/>
                        <a:latin typeface="Google Sans Text"/>
                      </a:endParaRPr>
                    </a:p>
                  </a:txBody>
                  <a:tcPr marL="70718" marR="70718" marT="35359" marB="35359" anchor="ctr"/>
                </a:tc>
                <a:tc>
                  <a:txBody>
                    <a:bodyPr/>
                    <a:lstStyle/>
                    <a:p>
                      <a:r>
                        <a:rPr lang="fr-FR" sz="1400">
                          <a:effectLst/>
                        </a:rPr>
                        <a:t>Pré-assemblage visserie</a:t>
                      </a:r>
                      <a:endParaRPr lang="fr-FR" sz="1400">
                        <a:effectLst/>
                        <a:latin typeface="Google Sans Text"/>
                      </a:endParaRPr>
                    </a:p>
                  </a:txBody>
                  <a:tcPr marL="70718" marR="70718" marT="35359" marB="35359" anchor="ctr"/>
                </a:tc>
                <a:tc>
                  <a:txBody>
                    <a:bodyPr/>
                    <a:lstStyle/>
                    <a:p>
                      <a:r>
                        <a:rPr lang="fr-FR" sz="1400">
                          <a:effectLst/>
                        </a:rPr>
                        <a:t>5</a:t>
                      </a:r>
                      <a:endParaRPr lang="fr-FR" sz="1400">
                        <a:effectLst/>
                        <a:latin typeface="Google Sans Text"/>
                      </a:endParaRPr>
                    </a:p>
                  </a:txBody>
                  <a:tcPr marL="70718" marR="70718" marT="35359" marB="35359" anchor="ctr"/>
                </a:tc>
                <a:tc>
                  <a:txBody>
                    <a:bodyPr/>
                    <a:lstStyle/>
                    <a:p>
                      <a:r>
                        <a:rPr lang="fr-FR" sz="1400">
                          <a:effectLst/>
                        </a:rPr>
                        <a:t>A</a:t>
                      </a:r>
                      <a:endParaRPr lang="fr-FR" sz="1400">
                        <a:effectLst/>
                        <a:latin typeface="Google Sans Text"/>
                      </a:endParaRPr>
                    </a:p>
                  </a:txBody>
                  <a:tcPr marL="70718" marR="70718" marT="35359" marB="35359" anchor="ctr"/>
                </a:tc>
                <a:extLst>
                  <a:ext uri="{0D108BD9-81ED-4DB2-BD59-A6C34878D82A}">
                    <a16:rowId xmlns:a16="http://schemas.microsoft.com/office/drawing/2014/main" val="2225824790"/>
                  </a:ext>
                </a:extLst>
              </a:tr>
              <a:tr h="328790">
                <a:tc>
                  <a:txBody>
                    <a:bodyPr/>
                    <a:lstStyle/>
                    <a:p>
                      <a:r>
                        <a:rPr lang="fr-FR" sz="1400" b="1">
                          <a:effectLst/>
                        </a:rPr>
                        <a:t>E</a:t>
                      </a:r>
                      <a:endParaRPr lang="fr-FR" sz="1400">
                        <a:effectLst/>
                        <a:latin typeface="Google Sans Text"/>
                      </a:endParaRPr>
                    </a:p>
                  </a:txBody>
                  <a:tcPr marL="70718" marR="70718" marT="35359" marB="35359" anchor="ctr"/>
                </a:tc>
                <a:tc>
                  <a:txBody>
                    <a:bodyPr/>
                    <a:lstStyle/>
                    <a:p>
                      <a:r>
                        <a:rPr lang="fr-FR" sz="1400">
                          <a:effectLst/>
                        </a:rPr>
                        <a:t>Montage final sur presse</a:t>
                      </a:r>
                      <a:endParaRPr lang="fr-FR" sz="1400">
                        <a:effectLst/>
                        <a:latin typeface="Google Sans Text"/>
                      </a:endParaRPr>
                    </a:p>
                  </a:txBody>
                  <a:tcPr marL="70718" marR="70718" marT="35359" marB="35359" anchor="ctr"/>
                </a:tc>
                <a:tc>
                  <a:txBody>
                    <a:bodyPr/>
                    <a:lstStyle/>
                    <a:p>
                      <a:r>
                        <a:rPr lang="fr-FR" sz="1400">
                          <a:effectLst/>
                        </a:rPr>
                        <a:t>7</a:t>
                      </a:r>
                      <a:endParaRPr lang="fr-FR" sz="1400">
                        <a:effectLst/>
                        <a:latin typeface="Google Sans Text"/>
                      </a:endParaRPr>
                    </a:p>
                  </a:txBody>
                  <a:tcPr marL="70718" marR="70718" marT="35359" marB="35359" anchor="ctr"/>
                </a:tc>
                <a:tc>
                  <a:txBody>
                    <a:bodyPr/>
                    <a:lstStyle/>
                    <a:p>
                      <a:r>
                        <a:rPr lang="fr-FR" sz="1400">
                          <a:effectLst/>
                        </a:rPr>
                        <a:t>C, D</a:t>
                      </a:r>
                      <a:endParaRPr lang="fr-FR" sz="1400">
                        <a:effectLst/>
                        <a:latin typeface="Google Sans Text"/>
                      </a:endParaRPr>
                    </a:p>
                  </a:txBody>
                  <a:tcPr marL="70718" marR="70718" marT="35359" marB="35359" anchor="ctr"/>
                </a:tc>
                <a:extLst>
                  <a:ext uri="{0D108BD9-81ED-4DB2-BD59-A6C34878D82A}">
                    <a16:rowId xmlns:a16="http://schemas.microsoft.com/office/drawing/2014/main" val="1960934995"/>
                  </a:ext>
                </a:extLst>
              </a:tr>
              <a:tr h="328790">
                <a:tc>
                  <a:txBody>
                    <a:bodyPr/>
                    <a:lstStyle/>
                    <a:p>
                      <a:r>
                        <a:rPr lang="fr-FR" sz="1400" b="1">
                          <a:effectLst/>
                        </a:rPr>
                        <a:t>F</a:t>
                      </a:r>
                      <a:endParaRPr lang="fr-FR" sz="1400">
                        <a:effectLst/>
                        <a:latin typeface="Google Sans Text"/>
                      </a:endParaRPr>
                    </a:p>
                  </a:txBody>
                  <a:tcPr marL="70718" marR="70718" marT="35359" marB="35359" anchor="ctr"/>
                </a:tc>
                <a:tc>
                  <a:txBody>
                    <a:bodyPr/>
                    <a:lstStyle/>
                    <a:p>
                      <a:r>
                        <a:rPr lang="fr-FR" sz="1400">
                          <a:effectLst/>
                        </a:rPr>
                        <a:t>Contrôle dimensionnel</a:t>
                      </a:r>
                      <a:endParaRPr lang="fr-FR" sz="1400">
                        <a:effectLst/>
                        <a:latin typeface="Google Sans Text"/>
                      </a:endParaRPr>
                    </a:p>
                  </a:txBody>
                  <a:tcPr marL="70718" marR="70718" marT="35359" marB="35359" anchor="ctr"/>
                </a:tc>
                <a:tc>
                  <a:txBody>
                    <a:bodyPr/>
                    <a:lstStyle/>
                    <a:p>
                      <a:r>
                        <a:rPr lang="fr-FR" sz="1400">
                          <a:effectLst/>
                        </a:rPr>
                        <a:t>3</a:t>
                      </a:r>
                      <a:endParaRPr lang="fr-FR" sz="1400">
                        <a:effectLst/>
                        <a:latin typeface="Google Sans Text"/>
                      </a:endParaRPr>
                    </a:p>
                  </a:txBody>
                  <a:tcPr marL="70718" marR="70718" marT="35359" marB="35359" anchor="ctr"/>
                </a:tc>
                <a:tc>
                  <a:txBody>
                    <a:bodyPr/>
                    <a:lstStyle/>
                    <a:p>
                      <a:r>
                        <a:rPr lang="fr-FR" sz="1400">
                          <a:effectLst/>
                        </a:rPr>
                        <a:t>E</a:t>
                      </a:r>
                      <a:endParaRPr lang="fr-FR" sz="1400">
                        <a:effectLst/>
                        <a:latin typeface="Google Sans Text"/>
                      </a:endParaRPr>
                    </a:p>
                  </a:txBody>
                  <a:tcPr marL="70718" marR="70718" marT="35359" marB="35359" anchor="ctr"/>
                </a:tc>
                <a:extLst>
                  <a:ext uri="{0D108BD9-81ED-4DB2-BD59-A6C34878D82A}">
                    <a16:rowId xmlns:a16="http://schemas.microsoft.com/office/drawing/2014/main" val="4012656393"/>
                  </a:ext>
                </a:extLst>
              </a:tr>
              <a:tr h="328790">
                <a:tc>
                  <a:txBody>
                    <a:bodyPr/>
                    <a:lstStyle/>
                    <a:p>
                      <a:r>
                        <a:rPr lang="fr-FR" sz="1400" b="1">
                          <a:effectLst/>
                        </a:rPr>
                        <a:t>G</a:t>
                      </a:r>
                      <a:endParaRPr lang="fr-FR" sz="1400">
                        <a:effectLst/>
                        <a:latin typeface="Google Sans Text"/>
                      </a:endParaRPr>
                    </a:p>
                  </a:txBody>
                  <a:tcPr marL="70718" marR="70718" marT="35359" marB="35359" anchor="ctr"/>
                </a:tc>
                <a:tc>
                  <a:txBody>
                    <a:bodyPr/>
                    <a:lstStyle/>
                    <a:p>
                      <a:r>
                        <a:rPr lang="fr-FR" sz="1400">
                          <a:effectLst/>
                        </a:rPr>
                        <a:t>Nettoyage et finition</a:t>
                      </a:r>
                      <a:endParaRPr lang="fr-FR" sz="1400">
                        <a:effectLst/>
                        <a:latin typeface="Google Sans Text"/>
                      </a:endParaRPr>
                    </a:p>
                  </a:txBody>
                  <a:tcPr marL="70718" marR="70718" marT="35359" marB="35359" anchor="ctr"/>
                </a:tc>
                <a:tc>
                  <a:txBody>
                    <a:bodyPr/>
                    <a:lstStyle/>
                    <a:p>
                      <a:r>
                        <a:rPr lang="fr-FR" sz="1400">
                          <a:effectLst/>
                        </a:rPr>
                        <a:t>2</a:t>
                      </a:r>
                      <a:endParaRPr lang="fr-FR" sz="1400">
                        <a:effectLst/>
                        <a:latin typeface="Google Sans Text"/>
                      </a:endParaRPr>
                    </a:p>
                  </a:txBody>
                  <a:tcPr marL="70718" marR="70718" marT="35359" marB="35359" anchor="ctr"/>
                </a:tc>
                <a:tc>
                  <a:txBody>
                    <a:bodyPr/>
                    <a:lstStyle/>
                    <a:p>
                      <a:r>
                        <a:rPr lang="fr-FR" sz="1400" dirty="0">
                          <a:effectLst/>
                        </a:rPr>
                        <a:t>F</a:t>
                      </a:r>
                      <a:endParaRPr lang="fr-FR" sz="1400" dirty="0">
                        <a:effectLst/>
                        <a:latin typeface="Google Sans Text"/>
                      </a:endParaRPr>
                    </a:p>
                  </a:txBody>
                  <a:tcPr marL="70718" marR="70718" marT="35359" marB="35359" anchor="ctr"/>
                </a:tc>
                <a:extLst>
                  <a:ext uri="{0D108BD9-81ED-4DB2-BD59-A6C34878D82A}">
                    <a16:rowId xmlns:a16="http://schemas.microsoft.com/office/drawing/2014/main" val="929225592"/>
                  </a:ext>
                </a:extLst>
              </a:tr>
              <a:tr h="188681">
                <a:tc>
                  <a:txBody>
                    <a:bodyPr/>
                    <a:lstStyle/>
                    <a:p>
                      <a:r>
                        <a:rPr lang="fr-FR" sz="1400" b="1">
                          <a:effectLst/>
                        </a:rPr>
                        <a:t>H</a:t>
                      </a:r>
                      <a:endParaRPr lang="fr-FR" sz="1400">
                        <a:effectLst/>
                        <a:latin typeface="Google Sans Text"/>
                      </a:endParaRPr>
                    </a:p>
                  </a:txBody>
                  <a:tcPr marL="70718" marR="70718" marT="35359" marB="35359" anchor="ctr"/>
                </a:tc>
                <a:tc>
                  <a:txBody>
                    <a:bodyPr/>
                    <a:lstStyle/>
                    <a:p>
                      <a:r>
                        <a:rPr lang="fr-FR" sz="1400">
                          <a:effectLst/>
                        </a:rPr>
                        <a:t>Conditionnement</a:t>
                      </a:r>
                      <a:endParaRPr lang="fr-FR" sz="1400">
                        <a:effectLst/>
                        <a:latin typeface="Google Sans Text"/>
                      </a:endParaRPr>
                    </a:p>
                  </a:txBody>
                  <a:tcPr marL="70718" marR="70718" marT="35359" marB="35359" anchor="ctr"/>
                </a:tc>
                <a:tc>
                  <a:txBody>
                    <a:bodyPr/>
                    <a:lstStyle/>
                    <a:p>
                      <a:r>
                        <a:rPr lang="fr-FR" sz="1400">
                          <a:effectLst/>
                        </a:rPr>
                        <a:t>3</a:t>
                      </a:r>
                      <a:endParaRPr lang="fr-FR" sz="1400">
                        <a:effectLst/>
                        <a:latin typeface="Google Sans Text"/>
                      </a:endParaRPr>
                    </a:p>
                  </a:txBody>
                  <a:tcPr marL="70718" marR="70718" marT="35359" marB="35359" anchor="ctr"/>
                </a:tc>
                <a:tc>
                  <a:txBody>
                    <a:bodyPr/>
                    <a:lstStyle/>
                    <a:p>
                      <a:r>
                        <a:rPr lang="fr-FR" sz="1400">
                          <a:effectLst/>
                        </a:rPr>
                        <a:t>G</a:t>
                      </a:r>
                      <a:endParaRPr lang="fr-FR" sz="1400">
                        <a:effectLst/>
                        <a:latin typeface="Google Sans Text"/>
                      </a:endParaRPr>
                    </a:p>
                  </a:txBody>
                  <a:tcPr marL="70718" marR="70718" marT="35359" marB="35359" anchor="ctr"/>
                </a:tc>
                <a:extLst>
                  <a:ext uri="{0D108BD9-81ED-4DB2-BD59-A6C34878D82A}">
                    <a16:rowId xmlns:a16="http://schemas.microsoft.com/office/drawing/2014/main" val="1080881278"/>
                  </a:ext>
                </a:extLst>
              </a:tr>
              <a:tr h="328790">
                <a:tc>
                  <a:txBody>
                    <a:bodyPr/>
                    <a:lstStyle/>
                    <a:p>
                      <a:r>
                        <a:rPr lang="fr-FR" sz="1400" b="1">
                          <a:effectLst/>
                        </a:rPr>
                        <a:t>TOTAL</a:t>
                      </a:r>
                      <a:endParaRPr lang="fr-FR" sz="1400">
                        <a:effectLst/>
                        <a:latin typeface="Google Sans Text"/>
                      </a:endParaRPr>
                    </a:p>
                  </a:txBody>
                  <a:tcPr marL="70718" marR="70718" marT="35359" marB="35359" anchor="ctr"/>
                </a:tc>
                <a:tc>
                  <a:txBody>
                    <a:bodyPr/>
                    <a:lstStyle/>
                    <a:p>
                      <a:r>
                        <a:rPr lang="fr-FR" sz="1400" b="1">
                          <a:effectLst/>
                        </a:rPr>
                        <a:t>Work Content (Somme Tc)</a:t>
                      </a:r>
                      <a:endParaRPr lang="fr-FR" sz="1400">
                        <a:effectLst/>
                        <a:latin typeface="Google Sans Text"/>
                      </a:endParaRPr>
                    </a:p>
                  </a:txBody>
                  <a:tcPr marL="70718" marR="70718" marT="35359" marB="35359" anchor="ctr"/>
                </a:tc>
                <a:tc>
                  <a:txBody>
                    <a:bodyPr/>
                    <a:lstStyle/>
                    <a:p>
                      <a:r>
                        <a:rPr lang="fr-FR" sz="1400" b="1">
                          <a:effectLst/>
                        </a:rPr>
                        <a:t>35 min</a:t>
                      </a:r>
                      <a:endParaRPr lang="fr-FR" sz="1400">
                        <a:effectLst/>
                        <a:latin typeface="Google Sans Text"/>
                      </a:endParaRPr>
                    </a:p>
                  </a:txBody>
                  <a:tcPr marL="70718" marR="70718" marT="35359" marB="35359" anchor="ctr"/>
                </a:tc>
                <a:tc>
                  <a:txBody>
                    <a:bodyPr/>
                    <a:lstStyle/>
                    <a:p>
                      <a:endParaRPr lang="fr-FR" sz="1400" dirty="0">
                        <a:effectLst/>
                        <a:latin typeface="Google Sans Text"/>
                      </a:endParaRPr>
                    </a:p>
                  </a:txBody>
                  <a:tcPr marL="70718" marR="70718" marT="35359" marB="35359" anchor="ctr"/>
                </a:tc>
                <a:extLst>
                  <a:ext uri="{0D108BD9-81ED-4DB2-BD59-A6C34878D82A}">
                    <a16:rowId xmlns:a16="http://schemas.microsoft.com/office/drawing/2014/main" val="2523888639"/>
                  </a:ext>
                </a:extLst>
              </a:tr>
            </a:tbl>
          </a:graphicData>
        </a:graphic>
      </p:graphicFrame>
    </p:spTree>
    <p:extLst>
      <p:ext uri="{BB962C8B-B14F-4D97-AF65-F5344CB8AC3E}">
        <p14:creationId xmlns:p14="http://schemas.microsoft.com/office/powerpoint/2010/main" val="24881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sz="4400" b="1" dirty="0"/>
              <a:t>Chapitre 6 </a:t>
            </a:r>
            <a:br>
              <a:rPr lang="fr-FR" sz="4400" b="1" dirty="0"/>
            </a:br>
            <a:r>
              <a:rPr lang="fr-FR" sz="4400" b="1" dirty="0" err="1"/>
              <a:t>Takt</a:t>
            </a:r>
            <a:r>
              <a:rPr lang="fr-FR" sz="4400" b="1" dirty="0"/>
              <a:t> Time &amp; Équilibrage de Ligne - TD</a:t>
            </a:r>
            <a:endParaRPr lang="fr-FR" sz="4400" dirty="0"/>
          </a:p>
        </p:txBody>
      </p:sp>
      <p:sp>
        <p:nvSpPr>
          <p:cNvPr id="3" name="Content Placeholder 2"/>
          <p:cNvSpPr>
            <a:spLocks noGrp="1"/>
          </p:cNvSpPr>
          <p:nvPr>
            <p:ph idx="1"/>
          </p:nvPr>
        </p:nvSpPr>
        <p:spPr/>
        <p:txBody>
          <a:bodyPr>
            <a:normAutofit/>
          </a:bodyPr>
          <a:lstStyle/>
          <a:p>
            <a:pPr marL="0" indent="0">
              <a:buNone/>
            </a:pPr>
            <a:r>
              <a:rPr lang="fr-FR" sz="1800" b="1" dirty="0"/>
              <a:t>2. Analyse des Tâches (Le relevé de terrain)</a:t>
            </a:r>
          </a:p>
          <a:p>
            <a:pPr marL="0" indent="0">
              <a:buNone/>
            </a:pPr>
            <a:r>
              <a:rPr lang="fr-FR" sz="1800" dirty="0"/>
              <a:t>Voici les 8 tâches élémentaires chronométrées sur le poste actuel :</a:t>
            </a:r>
          </a:p>
          <a:p>
            <a:pPr marL="0" indent="0">
              <a:buNone/>
              <a:defRPr sz="1800">
                <a:solidFill>
                  <a:srgbClr val="323232"/>
                </a:solidFill>
              </a:defRPr>
            </a:pPr>
            <a:endParaRPr dirty="0"/>
          </a:p>
        </p:txBody>
      </p:sp>
      <p:sp>
        <p:nvSpPr>
          <p:cNvPr id="4" name="Rectangle 3"/>
          <p:cNvSpPr/>
          <p:nvPr/>
        </p:nvSpPr>
        <p:spPr>
          <a:xfrm>
            <a:off x="180000" y="6113660"/>
            <a:ext cx="8640000" cy="360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a:extLst>
              <a:ext uri="{FF2B5EF4-FFF2-40B4-BE49-F238E27FC236}">
                <a16:creationId xmlns:a16="http://schemas.microsoft.com/office/drawing/2014/main" id="{F692A0FB-4AF2-EE79-5D8E-87F21ED74E6B}"/>
              </a:ext>
            </a:extLst>
          </p:cNvPr>
          <p:cNvGraphicFramePr>
            <a:graphicFrameLocks noGrp="1"/>
          </p:cNvGraphicFramePr>
          <p:nvPr>
            <p:extLst>
              <p:ext uri="{D42A27DB-BD31-4B8C-83A1-F6EECF244321}">
                <p14:modId xmlns:p14="http://schemas.microsoft.com/office/powerpoint/2010/main" val="1034259087"/>
              </p:ext>
            </p:extLst>
          </p:nvPr>
        </p:nvGraphicFramePr>
        <p:xfrm>
          <a:off x="385200" y="2500685"/>
          <a:ext cx="8229600" cy="3265478"/>
        </p:xfrm>
        <a:graphic>
          <a:graphicData uri="http://schemas.openxmlformats.org/drawingml/2006/table">
            <a:tbl>
              <a:tblPr>
                <a:tableStyleId>{69C7853C-536D-4A76-A0AE-DD22124D55A5}</a:tableStyleId>
              </a:tblPr>
              <a:tblGrid>
                <a:gridCol w="2057400">
                  <a:extLst>
                    <a:ext uri="{9D8B030D-6E8A-4147-A177-3AD203B41FA5}">
                      <a16:colId xmlns:a16="http://schemas.microsoft.com/office/drawing/2014/main" val="836058700"/>
                    </a:ext>
                  </a:extLst>
                </a:gridCol>
                <a:gridCol w="2057400">
                  <a:extLst>
                    <a:ext uri="{9D8B030D-6E8A-4147-A177-3AD203B41FA5}">
                      <a16:colId xmlns:a16="http://schemas.microsoft.com/office/drawing/2014/main" val="460716963"/>
                    </a:ext>
                  </a:extLst>
                </a:gridCol>
                <a:gridCol w="1743145">
                  <a:extLst>
                    <a:ext uri="{9D8B030D-6E8A-4147-A177-3AD203B41FA5}">
                      <a16:colId xmlns:a16="http://schemas.microsoft.com/office/drawing/2014/main" val="1075037240"/>
                    </a:ext>
                  </a:extLst>
                </a:gridCol>
                <a:gridCol w="2371655">
                  <a:extLst>
                    <a:ext uri="{9D8B030D-6E8A-4147-A177-3AD203B41FA5}">
                      <a16:colId xmlns:a16="http://schemas.microsoft.com/office/drawing/2014/main" val="2768951546"/>
                    </a:ext>
                  </a:extLst>
                </a:gridCol>
              </a:tblGrid>
              <a:tr h="459396">
                <a:tc>
                  <a:txBody>
                    <a:bodyPr/>
                    <a:lstStyle/>
                    <a:p>
                      <a:r>
                        <a:rPr lang="fr-FR" sz="1600" b="1">
                          <a:effectLst/>
                        </a:rPr>
                        <a:t>Poste</a:t>
                      </a:r>
                      <a:endParaRPr lang="fr-FR" sz="1600">
                        <a:effectLst/>
                        <a:latin typeface="Google Sans Text"/>
                      </a:endParaRPr>
                    </a:p>
                  </a:txBody>
                  <a:tcPr anchor="ctr"/>
                </a:tc>
                <a:tc>
                  <a:txBody>
                    <a:bodyPr/>
                    <a:lstStyle/>
                    <a:p>
                      <a:r>
                        <a:rPr lang="fr-FR" sz="1600" b="1" dirty="0">
                          <a:effectLst/>
                        </a:rPr>
                        <a:t>Tâches regroupées</a:t>
                      </a:r>
                      <a:endParaRPr lang="fr-FR" sz="1600" dirty="0">
                        <a:effectLst/>
                        <a:latin typeface="Google Sans Text"/>
                      </a:endParaRPr>
                    </a:p>
                  </a:txBody>
                  <a:tcPr anchor="ctr"/>
                </a:tc>
                <a:tc>
                  <a:txBody>
                    <a:bodyPr/>
                    <a:lstStyle/>
                    <a:p>
                      <a:r>
                        <a:rPr lang="fr-FR" sz="1600" b="1">
                          <a:effectLst/>
                        </a:rPr>
                        <a:t>Temps Total</a:t>
                      </a:r>
                      <a:endParaRPr lang="fr-FR" sz="1600">
                        <a:effectLst/>
                        <a:latin typeface="Google Sans Text"/>
                      </a:endParaRPr>
                    </a:p>
                  </a:txBody>
                  <a:tcPr anchor="ctr"/>
                </a:tc>
                <a:tc>
                  <a:txBody>
                    <a:bodyPr/>
                    <a:lstStyle/>
                    <a:p>
                      <a:r>
                        <a:rPr lang="fr-FR" sz="1600" b="1">
                          <a:effectLst/>
                        </a:rPr>
                        <a:t>Conclusion / Équilibre</a:t>
                      </a:r>
                      <a:endParaRPr lang="fr-FR" sz="1600">
                        <a:effectLst/>
                        <a:latin typeface="Google Sans Text"/>
                      </a:endParaRPr>
                    </a:p>
                  </a:txBody>
                  <a:tcPr anchor="ctr"/>
                </a:tc>
                <a:extLst>
                  <a:ext uri="{0D108BD9-81ED-4DB2-BD59-A6C34878D82A}">
                    <a16:rowId xmlns:a16="http://schemas.microsoft.com/office/drawing/2014/main" val="2035974806"/>
                  </a:ext>
                </a:extLst>
              </a:tr>
              <a:tr h="656281">
                <a:tc>
                  <a:txBody>
                    <a:bodyPr/>
                    <a:lstStyle/>
                    <a:p>
                      <a:r>
                        <a:rPr lang="fr-FR" sz="1600" b="1">
                          <a:effectLst/>
                        </a:rPr>
                        <a:t>Op 1</a:t>
                      </a:r>
                      <a:endParaRPr lang="fr-FR" sz="1600">
                        <a:effectLst/>
                        <a:latin typeface="Google Sans Text"/>
                      </a:endParaRPr>
                    </a:p>
                  </a:txBody>
                  <a:tcPr anchor="ctr"/>
                </a:tc>
                <a:tc>
                  <a:txBody>
                    <a:bodyPr/>
                    <a:lstStyle/>
                    <a:p>
                      <a:r>
                        <a:rPr lang="pt-BR" sz="1600" dirty="0">
                          <a:effectLst/>
                        </a:rPr>
                        <a:t>A (2 min) + D (5 min)</a:t>
                      </a:r>
                      <a:endParaRPr lang="pt-BR" sz="1600" dirty="0">
                        <a:effectLst/>
                        <a:latin typeface="Google Sans Text"/>
                      </a:endParaRPr>
                    </a:p>
                  </a:txBody>
                  <a:tcPr anchor="ctr"/>
                </a:tc>
                <a:tc>
                  <a:txBody>
                    <a:bodyPr/>
                    <a:lstStyle/>
                    <a:p>
                      <a:r>
                        <a:rPr lang="fr-FR" sz="1600" b="1" dirty="0">
                          <a:effectLst/>
                        </a:rPr>
                        <a:t>7 min</a:t>
                      </a:r>
                      <a:endParaRPr lang="fr-FR" sz="1600" dirty="0">
                        <a:effectLst/>
                        <a:latin typeface="Google Sans Text"/>
                      </a:endParaRPr>
                    </a:p>
                  </a:txBody>
                  <a:tcPr anchor="ctr"/>
                </a:tc>
                <a:tc>
                  <a:txBody>
                    <a:bodyPr/>
                    <a:lstStyle/>
                    <a:p>
                      <a:r>
                        <a:rPr lang="fr-FR" sz="1600">
                          <a:effectLst/>
                        </a:rPr>
                        <a:t>Dépassement (à optimiser).</a:t>
                      </a:r>
                      <a:endParaRPr lang="fr-FR" sz="1600">
                        <a:effectLst/>
                        <a:latin typeface="Google Sans Text"/>
                      </a:endParaRPr>
                    </a:p>
                  </a:txBody>
                  <a:tcPr anchor="ctr"/>
                </a:tc>
                <a:extLst>
                  <a:ext uri="{0D108BD9-81ED-4DB2-BD59-A6C34878D82A}">
                    <a16:rowId xmlns:a16="http://schemas.microsoft.com/office/drawing/2014/main" val="366027195"/>
                  </a:ext>
                </a:extLst>
              </a:tr>
              <a:tr h="262512">
                <a:tc>
                  <a:txBody>
                    <a:bodyPr/>
                    <a:lstStyle/>
                    <a:p>
                      <a:r>
                        <a:rPr lang="fr-FR" sz="1600" b="1">
                          <a:effectLst/>
                        </a:rPr>
                        <a:t>Op 2 (B - Double)</a:t>
                      </a:r>
                      <a:endParaRPr lang="fr-FR" sz="1600">
                        <a:effectLst/>
                        <a:latin typeface="Google Sans Text"/>
                      </a:endParaRPr>
                    </a:p>
                  </a:txBody>
                  <a:tcPr anchor="ctr"/>
                </a:tc>
                <a:tc>
                  <a:txBody>
                    <a:bodyPr/>
                    <a:lstStyle/>
                    <a:p>
                      <a:r>
                        <a:rPr lang="fr-FR" sz="1600">
                          <a:effectLst/>
                        </a:rPr>
                        <a:t>B (Usinage)</a:t>
                      </a:r>
                      <a:endParaRPr lang="fr-FR" sz="1600">
                        <a:effectLst/>
                        <a:latin typeface="Google Sans Text"/>
                      </a:endParaRPr>
                    </a:p>
                  </a:txBody>
                  <a:tcPr anchor="ctr"/>
                </a:tc>
                <a:tc>
                  <a:txBody>
                    <a:bodyPr/>
                    <a:lstStyle/>
                    <a:p>
                      <a:r>
                        <a:rPr lang="fr-FR" sz="1600" b="1">
                          <a:effectLst/>
                        </a:rPr>
                        <a:t>4,5 min</a:t>
                      </a:r>
                      <a:endParaRPr lang="fr-FR" sz="1600">
                        <a:effectLst/>
                        <a:latin typeface="Google Sans Text"/>
                      </a:endParaRPr>
                    </a:p>
                  </a:txBody>
                  <a:tcPr anchor="ctr"/>
                </a:tc>
                <a:tc>
                  <a:txBody>
                    <a:bodyPr/>
                    <a:lstStyle/>
                    <a:p>
                      <a:r>
                        <a:rPr lang="fr-FR" sz="1600" b="1">
                          <a:effectLst/>
                        </a:rPr>
                        <a:t>Équilibré (perçu)</a:t>
                      </a:r>
                      <a:r>
                        <a:rPr lang="fr-FR" sz="1600">
                          <a:effectLst/>
                        </a:rPr>
                        <a:t>.</a:t>
                      </a:r>
                      <a:endParaRPr lang="fr-FR" sz="1600">
                        <a:effectLst/>
                        <a:latin typeface="Google Sans Text"/>
                      </a:endParaRPr>
                    </a:p>
                  </a:txBody>
                  <a:tcPr anchor="ctr"/>
                </a:tc>
                <a:extLst>
                  <a:ext uri="{0D108BD9-81ED-4DB2-BD59-A6C34878D82A}">
                    <a16:rowId xmlns:a16="http://schemas.microsoft.com/office/drawing/2014/main" val="56454353"/>
                  </a:ext>
                </a:extLst>
              </a:tr>
              <a:tr h="656281">
                <a:tc>
                  <a:txBody>
                    <a:bodyPr/>
                    <a:lstStyle/>
                    <a:p>
                      <a:r>
                        <a:rPr lang="fr-FR" sz="1600" b="1">
                          <a:effectLst/>
                        </a:rPr>
                        <a:t>Op 3</a:t>
                      </a:r>
                      <a:endParaRPr lang="fr-FR" sz="1600">
                        <a:effectLst/>
                        <a:latin typeface="Google Sans Text"/>
                      </a:endParaRPr>
                    </a:p>
                  </a:txBody>
                  <a:tcPr anchor="ctr"/>
                </a:tc>
                <a:tc>
                  <a:txBody>
                    <a:bodyPr/>
                    <a:lstStyle/>
                    <a:p>
                      <a:r>
                        <a:rPr lang="fr-FR" sz="1600" dirty="0">
                          <a:effectLst/>
                        </a:rPr>
                        <a:t>C (4min) + G (2min)</a:t>
                      </a:r>
                      <a:endParaRPr lang="fr-FR" sz="1600" dirty="0">
                        <a:effectLst/>
                        <a:latin typeface="Google Sans Text"/>
                      </a:endParaRPr>
                    </a:p>
                  </a:txBody>
                  <a:tcPr anchor="ctr"/>
                </a:tc>
                <a:tc>
                  <a:txBody>
                    <a:bodyPr/>
                    <a:lstStyle/>
                    <a:p>
                      <a:r>
                        <a:rPr lang="fr-FR" sz="1600" b="1" dirty="0">
                          <a:effectLst/>
                        </a:rPr>
                        <a:t>6 min</a:t>
                      </a:r>
                      <a:endParaRPr lang="fr-FR" sz="1600" dirty="0">
                        <a:effectLst/>
                        <a:latin typeface="Google Sans Text"/>
                      </a:endParaRPr>
                    </a:p>
                  </a:txBody>
                  <a:tcPr anchor="ctr"/>
                </a:tc>
                <a:tc>
                  <a:txBody>
                    <a:bodyPr/>
                    <a:lstStyle/>
                    <a:p>
                      <a:r>
                        <a:rPr lang="fr-FR" sz="1600">
                          <a:effectLst/>
                        </a:rPr>
                        <a:t>Dépassement (à optimiser).</a:t>
                      </a:r>
                      <a:endParaRPr lang="fr-FR" sz="1600">
                        <a:effectLst/>
                        <a:latin typeface="Google Sans Text"/>
                      </a:endParaRPr>
                    </a:p>
                  </a:txBody>
                  <a:tcPr anchor="ctr"/>
                </a:tc>
                <a:extLst>
                  <a:ext uri="{0D108BD9-81ED-4DB2-BD59-A6C34878D82A}">
                    <a16:rowId xmlns:a16="http://schemas.microsoft.com/office/drawing/2014/main" val="2159950138"/>
                  </a:ext>
                </a:extLst>
              </a:tr>
              <a:tr h="459396">
                <a:tc>
                  <a:txBody>
                    <a:bodyPr/>
                    <a:lstStyle/>
                    <a:p>
                      <a:r>
                        <a:rPr lang="fr-FR" sz="1600" b="1">
                          <a:effectLst/>
                        </a:rPr>
                        <a:t>Op 4</a:t>
                      </a:r>
                      <a:endParaRPr lang="fr-FR" sz="1600">
                        <a:effectLst/>
                        <a:latin typeface="Google Sans Text"/>
                      </a:endParaRPr>
                    </a:p>
                  </a:txBody>
                  <a:tcPr anchor="ctr"/>
                </a:tc>
                <a:tc>
                  <a:txBody>
                    <a:bodyPr/>
                    <a:lstStyle/>
                    <a:p>
                      <a:r>
                        <a:rPr lang="fr-FR" sz="1600">
                          <a:effectLst/>
                        </a:rPr>
                        <a:t>E (Montage Presse)</a:t>
                      </a:r>
                      <a:endParaRPr lang="fr-FR" sz="1600">
                        <a:effectLst/>
                        <a:latin typeface="Google Sans Text"/>
                      </a:endParaRPr>
                    </a:p>
                  </a:txBody>
                  <a:tcPr anchor="ctr"/>
                </a:tc>
                <a:tc>
                  <a:txBody>
                    <a:bodyPr/>
                    <a:lstStyle/>
                    <a:p>
                      <a:r>
                        <a:rPr lang="fr-FR" sz="1600" b="1">
                          <a:effectLst/>
                        </a:rPr>
                        <a:t>7 min</a:t>
                      </a:r>
                      <a:endParaRPr lang="fr-FR" sz="1600">
                        <a:effectLst/>
                        <a:latin typeface="Google Sans Text"/>
                      </a:endParaRPr>
                    </a:p>
                  </a:txBody>
                  <a:tcPr anchor="ctr"/>
                </a:tc>
                <a:tc>
                  <a:txBody>
                    <a:bodyPr/>
                    <a:lstStyle/>
                    <a:p>
                      <a:r>
                        <a:rPr lang="fr-FR" sz="1600">
                          <a:effectLst/>
                        </a:rPr>
                        <a:t>Dépassement (poste chargé).</a:t>
                      </a:r>
                      <a:endParaRPr lang="fr-FR" sz="1600">
                        <a:effectLst/>
                        <a:latin typeface="Google Sans Text"/>
                      </a:endParaRPr>
                    </a:p>
                  </a:txBody>
                  <a:tcPr anchor="ctr"/>
                </a:tc>
                <a:extLst>
                  <a:ext uri="{0D108BD9-81ED-4DB2-BD59-A6C34878D82A}">
                    <a16:rowId xmlns:a16="http://schemas.microsoft.com/office/drawing/2014/main" val="1964267147"/>
                  </a:ext>
                </a:extLst>
              </a:tr>
              <a:tr h="459396">
                <a:tc>
                  <a:txBody>
                    <a:bodyPr/>
                    <a:lstStyle/>
                    <a:p>
                      <a:r>
                        <a:rPr lang="fr-FR" sz="1600" b="1">
                          <a:effectLst/>
                        </a:rPr>
                        <a:t>Op 5</a:t>
                      </a:r>
                      <a:endParaRPr lang="fr-FR" sz="1600">
                        <a:effectLst/>
                        <a:latin typeface="Google Sans Text"/>
                      </a:endParaRPr>
                    </a:p>
                  </a:txBody>
                  <a:tcPr anchor="ctr"/>
                </a:tc>
                <a:tc>
                  <a:txBody>
                    <a:bodyPr/>
                    <a:lstStyle/>
                    <a:p>
                      <a:r>
                        <a:rPr lang="pt-BR" sz="1600" dirty="0">
                          <a:effectLst/>
                        </a:rPr>
                        <a:t>F (3min) + H (3 min)</a:t>
                      </a:r>
                      <a:endParaRPr lang="pt-BR" sz="1600" dirty="0">
                        <a:effectLst/>
                        <a:latin typeface="Google Sans Text"/>
                      </a:endParaRPr>
                    </a:p>
                  </a:txBody>
                  <a:tcPr anchor="ctr"/>
                </a:tc>
                <a:tc>
                  <a:txBody>
                    <a:bodyPr/>
                    <a:lstStyle/>
                    <a:p>
                      <a:r>
                        <a:rPr lang="fr-FR" sz="1600" b="1">
                          <a:effectLst/>
                        </a:rPr>
                        <a:t>6 min</a:t>
                      </a:r>
                      <a:endParaRPr lang="fr-FR" sz="1600">
                        <a:effectLst/>
                        <a:latin typeface="Google Sans Text"/>
                      </a:endParaRPr>
                    </a:p>
                  </a:txBody>
                  <a:tcPr anchor="ctr"/>
                </a:tc>
                <a:tc>
                  <a:txBody>
                    <a:bodyPr/>
                    <a:lstStyle/>
                    <a:p>
                      <a:r>
                        <a:rPr lang="fr-FR" sz="1600" dirty="0">
                          <a:effectLst/>
                        </a:rPr>
                        <a:t>Dépassement (à optimiser).</a:t>
                      </a:r>
                      <a:endParaRPr lang="fr-FR" sz="1600" dirty="0">
                        <a:effectLst/>
                        <a:latin typeface="Google Sans Text"/>
                      </a:endParaRPr>
                    </a:p>
                  </a:txBody>
                  <a:tcPr anchor="ctr"/>
                </a:tc>
                <a:extLst>
                  <a:ext uri="{0D108BD9-81ED-4DB2-BD59-A6C34878D82A}">
                    <a16:rowId xmlns:a16="http://schemas.microsoft.com/office/drawing/2014/main" val="1819677455"/>
                  </a:ext>
                </a:extLst>
              </a:tr>
            </a:tbl>
          </a:graphicData>
        </a:graphic>
      </p:graphicFrame>
    </p:spTree>
    <p:extLst>
      <p:ext uri="{BB962C8B-B14F-4D97-AF65-F5344CB8AC3E}">
        <p14:creationId xmlns:p14="http://schemas.microsoft.com/office/powerpoint/2010/main" val="6189495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BB974C96_E7FA_4FD0_8272_ACF4FABA12D2&quot;,&quot;SourceFullNameMaxLengthReached&quot;:false,&quot;SourceFullName&quot;:&quot;&quot;,&quot;LastUpdate&quot;:&quot;2026-01-08 10:22 AM&quot;,&quot;UpdatedBy&quot;:&quot;W29&quot;,&quot;IsLinked&quot;:false,&quot;IsBrokenLink&quot;:false,&quot;Type&quot;:2,&quot;ShapeId&quot;:0,&quot;WorksheetName&quot;:nul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8225</TotalTime>
  <Words>1757</Words>
  <Application>Microsoft Office PowerPoint</Application>
  <PresentationFormat>On-screen Show (4:3)</PresentationFormat>
  <Paragraphs>213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Google Sans Text</vt:lpstr>
      <vt:lpstr>Wingdings</vt:lpstr>
      <vt:lpstr>Office Theme</vt:lpstr>
      <vt:lpstr>Lean Management</vt:lpstr>
      <vt:lpstr>Programme du cours</vt:lpstr>
      <vt:lpstr>Chapitre 5  5S &amp; Organisation du Poste – TD L’audit du chaos</vt:lpstr>
      <vt:lpstr>Chapitre 5  5S &amp; Organisation du Poste - TD</vt:lpstr>
      <vt:lpstr>Chapitre 5  5S &amp; Organisation du Poste - TD</vt:lpstr>
      <vt:lpstr>Chapitre 5  5S &amp; Organisation du Poste - TD</vt:lpstr>
      <vt:lpstr>Chapitre 5  5S &amp; Organisation du Poste - TD</vt:lpstr>
      <vt:lpstr>Chapitre 5  5S &amp; Organisation du Poste - TD</vt:lpstr>
      <vt:lpstr>Chapitre 6  Takt Time &amp; Équilibrage de Ligne - TD</vt:lpstr>
      <vt:lpstr>Chapitre 6  Takt Time &amp; Équilibrage de Ligne - TD</vt:lpstr>
      <vt:lpstr>Chapitre 6  Takt Time &amp; Équilibrage de Ligne - TD</vt:lpstr>
      <vt:lpstr>Chapitre 6  Takt Time &amp; Équilibrage de Ligne - TD</vt:lpstr>
      <vt:lpstr>Chapitre 6  Takt Time &amp; Équilibrage de Ligne - TD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QVCT &amp; Management de Projet</dc:title>
  <dc:subject/>
  <dc:creator>GUERARD Sebastien</dc:creator>
  <cp:keywords/>
  <dc:description>generated using python-pptx</dc:description>
  <cp:lastModifiedBy>GUERARD Sebastien</cp:lastModifiedBy>
  <cp:revision>274</cp:revision>
  <dcterms:created xsi:type="dcterms:W3CDTF">2013-01-27T09:14:16Z</dcterms:created>
  <dcterms:modified xsi:type="dcterms:W3CDTF">2026-05-04T05:56:29Z</dcterms:modified>
  <cp:category/>
</cp:coreProperties>
</file>